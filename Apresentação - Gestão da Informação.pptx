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91" r:id="rId3"/>
    <p:sldId id="331" r:id="rId4"/>
    <p:sldId id="332" r:id="rId5"/>
    <p:sldId id="333" r:id="rId6"/>
    <p:sldId id="334" r:id="rId7"/>
    <p:sldId id="335" r:id="rId8"/>
    <p:sldId id="340" r:id="rId9"/>
    <p:sldId id="336" r:id="rId10"/>
    <p:sldId id="341" r:id="rId11"/>
    <p:sldId id="309" r:id="rId12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57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47" autoAdjust="0"/>
    <p:restoredTop sz="83649" autoAdjust="0"/>
  </p:normalViewPr>
  <p:slideViewPr>
    <p:cSldViewPr snapToGrid="0">
      <p:cViewPr varScale="1">
        <p:scale>
          <a:sx n="71" d="100"/>
          <a:sy n="71" d="100"/>
        </p:scale>
        <p:origin x="678" y="60"/>
      </p:cViewPr>
      <p:guideLst>
        <p:guide orient="horz" pos="157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94"/>
    </p:cViewPr>
  </p:sorterViewPr>
  <p:notesViewPr>
    <p:cSldViewPr snapToGrid="0"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625259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5753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40961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51430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0003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90279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8933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79072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8038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85802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722313" y="3305176"/>
            <a:ext cx="7772402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3" y="2180035"/>
            <a:ext cx="7772402" cy="112514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31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1" y="1200151"/>
            <a:ext cx="4038601" cy="3394472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48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8" y="1151334"/>
            <a:ext cx="4041774" cy="47982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457203" y="204787"/>
            <a:ext cx="3008315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73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3575052" y="204789"/>
            <a:ext cx="5111749" cy="438983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7198" y="1076326"/>
            <a:ext cx="3008316" cy="351829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1792289" y="3600450"/>
            <a:ext cx="5486402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Texto do Título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289" y="459581"/>
            <a:ext cx="5486402" cy="3086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92289" y="4025503"/>
            <a:ext cx="5486402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85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94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 hasCustomPrompt="1"/>
          </p:nvPr>
        </p:nvSpPr>
        <p:spPr>
          <a:xfrm>
            <a:off x="6629399" y="205980"/>
            <a:ext cx="2057401" cy="4388645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 hasCustomPrompt="1"/>
          </p:nvPr>
        </p:nvSpPr>
        <p:spPr>
          <a:xfrm>
            <a:off x="457200" y="205980"/>
            <a:ext cx="6019801" cy="4388645"/>
          </a:xfrm>
          <a:prstGeom prst="rect">
            <a:avLst/>
          </a:prstGeom>
        </p:spPr>
        <p:txBody>
          <a:bodyPr/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103" name="Número do Slid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Texto do Título</a:t>
            </a:r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>
            <a:spLocks noGrp="1"/>
          </p:cNvSpPr>
          <p:nvPr>
            <p:ph type="sldNum" sz="quarter" idx="2"/>
          </p:nvPr>
        </p:nvSpPr>
        <p:spPr>
          <a:xfrm>
            <a:off x="8342803" y="4765688"/>
            <a:ext cx="344000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‹nº›</a:t>
            </a:fld>
            <a:endParaRPr/>
          </a:p>
        </p:txBody>
      </p:sp>
      <p:pic>
        <p:nvPicPr>
          <p:cNvPr id="5" name="Picture 5" descr="Picture 5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6" name="Picture 6" descr="Picture 6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649752" y="4972050"/>
            <a:ext cx="2494252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7" name="Imagem" descr="Imagem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051528" y="4341020"/>
            <a:ext cx="1690697" cy="54544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23986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Gestão da Informação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sp>
        <p:nvSpPr>
          <p:cNvPr id="7" name="Título 2">
            <a:extLst>
              <a:ext uri="{FF2B5EF4-FFF2-40B4-BE49-F238E27FC236}">
                <a16:creationId xmlns:a16="http://schemas.microsoft.com/office/drawing/2014/main" id="{96E19DF9-3700-43F7-B711-234CE363D2F0}"/>
              </a:ext>
            </a:extLst>
          </p:cNvPr>
          <p:cNvSpPr txBox="1">
            <a:spLocks/>
          </p:cNvSpPr>
          <p:nvPr/>
        </p:nvSpPr>
        <p:spPr>
          <a:xfrm>
            <a:off x="7484030" y="110109"/>
            <a:ext cx="1613368" cy="855867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hangingPunct="1"/>
            <a:r>
              <a:rPr lang="pt-BR" sz="3600" b="1" dirty="0">
                <a:solidFill>
                  <a:schemeClr val="bg1"/>
                </a:solidFill>
              </a:rPr>
              <a:t>YDUQS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26338" y="1121664"/>
            <a:ext cx="8681444" cy="3160731"/>
          </a:xfrm>
        </p:spPr>
        <p:txBody>
          <a:bodyPr>
            <a:noAutofit/>
          </a:bodyPr>
          <a:lstStyle/>
          <a:p>
            <a:pPr algn="l" eaLnBrk="0" hangingPunct="0">
              <a:spcBef>
                <a:spcPct val="20000"/>
              </a:spcBef>
            </a:pPr>
            <a:br>
              <a:rPr lang="pt-BR" altLang="pt-BR" sz="3200" b="1" dirty="0">
                <a:solidFill>
                  <a:schemeClr val="bg1"/>
                </a:solidFill>
              </a:rPr>
            </a:br>
            <a:br>
              <a:rPr lang="pt-BR" altLang="pt-BR" sz="3200" b="1" dirty="0">
                <a:solidFill>
                  <a:schemeClr val="bg1"/>
                </a:solidFill>
              </a:rPr>
            </a:br>
            <a:br>
              <a:rPr lang="pt-BR" altLang="pt-BR" sz="3200" b="1" dirty="0">
                <a:solidFill>
                  <a:schemeClr val="bg1"/>
                </a:solidFill>
              </a:rPr>
            </a:br>
            <a:r>
              <a:rPr lang="pt-BR" altLang="pt-BR" sz="3200" b="1" dirty="0">
                <a:solidFill>
                  <a:schemeClr val="bg1"/>
                </a:solidFill>
              </a:rPr>
              <a:t>1 – Apresentação Pessoal</a:t>
            </a:r>
            <a:br>
              <a:rPr lang="pt-BR" altLang="pt-BR" sz="3200" b="1" dirty="0">
                <a:solidFill>
                  <a:schemeClr val="bg1"/>
                </a:solidFill>
              </a:rPr>
            </a:br>
            <a:r>
              <a:rPr lang="pt-BR" altLang="pt-BR" sz="3200" b="1" dirty="0">
                <a:solidFill>
                  <a:schemeClr val="bg1"/>
                </a:solidFill>
              </a:rPr>
              <a:t>2 – Visão Geral da Disciplina</a:t>
            </a:r>
            <a:br>
              <a:rPr lang="pt-BR" altLang="pt-BR" sz="3200" b="1" dirty="0">
                <a:solidFill>
                  <a:schemeClr val="bg1"/>
                </a:solidFill>
              </a:rPr>
            </a:br>
            <a:r>
              <a:rPr lang="pt-BR" altLang="pt-BR" sz="3200" b="1" dirty="0">
                <a:solidFill>
                  <a:schemeClr val="bg1"/>
                </a:solidFill>
              </a:rPr>
              <a:t>3 – Objetivos/Habilidades</a:t>
            </a:r>
            <a:br>
              <a:rPr lang="pt-BR" altLang="pt-BR" sz="3200" b="1" dirty="0">
                <a:solidFill>
                  <a:schemeClr val="bg1"/>
                </a:solidFill>
              </a:rPr>
            </a:br>
            <a:r>
              <a:rPr lang="pt-BR" altLang="pt-BR" sz="3200" b="1" dirty="0">
                <a:solidFill>
                  <a:schemeClr val="bg1"/>
                </a:solidFill>
              </a:rPr>
              <a:t>4 – Unidades/Conteúdos</a:t>
            </a:r>
            <a:br>
              <a:rPr lang="pt-BR" altLang="pt-BR" sz="3200" b="1" dirty="0">
                <a:solidFill>
                  <a:schemeClr val="bg1"/>
                </a:solidFill>
              </a:rPr>
            </a:br>
            <a:r>
              <a:rPr lang="pt-BR" altLang="pt-BR" sz="3200" b="1" dirty="0">
                <a:solidFill>
                  <a:schemeClr val="bg1"/>
                </a:solidFill>
              </a:rPr>
              <a:t>5 – Metodologia/Avaliação</a:t>
            </a:r>
            <a:br>
              <a:rPr lang="pt-BR" altLang="pt-BR" sz="3200" b="1" dirty="0">
                <a:solidFill>
                  <a:schemeClr val="bg1"/>
                </a:solidFill>
              </a:rPr>
            </a:br>
            <a:r>
              <a:rPr lang="pt-BR" altLang="pt-BR" sz="3200" b="1" dirty="0">
                <a:solidFill>
                  <a:schemeClr val="bg1"/>
                </a:solidFill>
              </a:rPr>
              <a:t>6 – Referências Bibliográficas</a:t>
            </a:r>
            <a:br>
              <a:rPr lang="pt-BR" altLang="pt-BR" sz="4400" dirty="0"/>
            </a:br>
            <a:br>
              <a:rPr lang="pt-BR" b="1" dirty="0">
                <a:solidFill>
                  <a:schemeClr val="bg1"/>
                </a:solidFill>
              </a:rPr>
            </a:br>
            <a:endParaRPr lang="pt-BR" sz="4800" b="1" dirty="0">
              <a:solidFill>
                <a:schemeClr val="bg1"/>
              </a:solidFill>
            </a:endParaRP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 dirty="0" err="1">
                <a:solidFill>
                  <a:schemeClr val="bg1"/>
                </a:solidFill>
              </a:rPr>
              <a:t>MSc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sp>
        <p:nvSpPr>
          <p:cNvPr id="7" name="Título 2">
            <a:extLst>
              <a:ext uri="{FF2B5EF4-FFF2-40B4-BE49-F238E27FC236}">
                <a16:creationId xmlns:a16="http://schemas.microsoft.com/office/drawing/2014/main" id="{5C2C7CAD-310B-468E-9BD1-616B15F8050F}"/>
              </a:ext>
            </a:extLst>
          </p:cNvPr>
          <p:cNvSpPr txBox="1">
            <a:spLocks/>
          </p:cNvSpPr>
          <p:nvPr/>
        </p:nvSpPr>
        <p:spPr>
          <a:xfrm>
            <a:off x="231278" y="224274"/>
            <a:ext cx="8681444" cy="675815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hangingPunct="1"/>
            <a:r>
              <a:rPr lang="pt-BR" b="1" dirty="0">
                <a:solidFill>
                  <a:schemeClr val="bg1"/>
                </a:solidFill>
              </a:rPr>
              <a:t>Agenda</a:t>
            </a:r>
            <a:endParaRPr lang="pt-BR" sz="4800" b="1" dirty="0">
              <a:solidFill>
                <a:schemeClr val="bg1"/>
              </a:solidFill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03121D4B-D5B7-4659-8B64-14968B90805C}"/>
              </a:ext>
            </a:extLst>
          </p:cNvPr>
          <p:cNvCxnSpPr>
            <a:cxnSpLocks/>
          </p:cNvCxnSpPr>
          <p:nvPr/>
        </p:nvCxnSpPr>
        <p:spPr>
          <a:xfrm flipV="1">
            <a:off x="310728" y="902136"/>
            <a:ext cx="8699160" cy="40954"/>
          </a:xfrm>
          <a:prstGeom prst="line">
            <a:avLst/>
          </a:prstGeom>
          <a:ln w="38100"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Apresentação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Pessoal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104186"/>
            <a:ext cx="8865056" cy="3833334"/>
          </a:xfrm>
        </p:spPr>
        <p:txBody>
          <a:bodyPr>
            <a:noAutofit/>
          </a:bodyPr>
          <a:lstStyle/>
          <a:p>
            <a:pPr algn="just" eaLnBrk="0" hangingPunct="0">
              <a:buFont typeface="Wingdings" panose="05000000000000000000" pitchFamily="2" charset="2"/>
              <a:buChar char="ü"/>
            </a:pPr>
            <a:r>
              <a:rPr lang="pt-BR" alt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Analista de Sistemas; Lider SCRUM; Consultor e Docente</a:t>
            </a:r>
            <a:endParaRPr lang="pt-BR" altLang="pt-BR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hangingPunct="0">
              <a:buFont typeface="Wingdings" panose="05000000000000000000" pitchFamily="2" charset="2"/>
              <a:buChar char="ü"/>
            </a:pPr>
            <a:r>
              <a:rPr lang="pt-BR" alt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Doutorando Aluno Especial Ciência da Computação - UFBA 2018.2</a:t>
            </a:r>
          </a:p>
          <a:p>
            <a:pPr algn="just" eaLnBrk="0" hangingPunct="0">
              <a:buFont typeface="Wingdings" panose="05000000000000000000" pitchFamily="2" charset="2"/>
              <a:buChar char="ü"/>
            </a:pPr>
            <a:r>
              <a:rPr lang="pt-BR" alt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StrictoSensu-MSc</a:t>
            </a:r>
            <a:r>
              <a:rPr lang="pt-BR" alt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 </a:t>
            </a:r>
            <a:r>
              <a:rPr lang="pt-BR" alt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</a:t>
            </a:r>
            <a:r>
              <a:rPr lang="pt-BR" alt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Computação - UNIFACS</a:t>
            </a:r>
          </a:p>
          <a:p>
            <a:pPr algn="just" eaLnBrk="0" hangingPunct="0">
              <a:buFont typeface="Wingdings" panose="05000000000000000000" pitchFamily="2" charset="2"/>
              <a:buChar char="ü"/>
            </a:pPr>
            <a:r>
              <a:rPr lang="pt-BR" altLang="pt-B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LatoSensu</a:t>
            </a:r>
            <a:r>
              <a:rPr lang="pt-BR" altLang="pt-B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-MBA Gestão de Informação - UNIFACS</a:t>
            </a:r>
          </a:p>
          <a:p>
            <a:pPr algn="just" eaLnBrk="0" hangingPunct="0">
              <a:buFont typeface="Wingdings" panose="05000000000000000000" pitchFamily="2" charset="2"/>
              <a:buChar char="ü"/>
            </a:pPr>
            <a:r>
              <a:rPr lang="pt-BR" altLang="pt-BR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Engenheiro Eletricista – </a:t>
            </a:r>
            <a:r>
              <a:rPr lang="pt-BR" altLang="pt-BR" sz="24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Wyden</a:t>
            </a:r>
            <a:r>
              <a:rPr lang="pt-BR" altLang="pt-BR" sz="24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UNIRUY</a:t>
            </a:r>
            <a:endParaRPr lang="pt-BR" altLang="pt-BR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hangingPunct="0">
              <a:buFont typeface="Wingdings" panose="05000000000000000000" pitchFamily="2" charset="2"/>
              <a:buChar char="ü"/>
            </a:pPr>
            <a:r>
              <a:rPr lang="pt-BR" altLang="pt-BR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Licenciatura R2 Matemática - UNICS</a:t>
            </a:r>
          </a:p>
          <a:p>
            <a:pPr algn="just" eaLnBrk="0" hangingPunct="0">
              <a:buFont typeface="Wingdings" panose="05000000000000000000" pitchFamily="2" charset="2"/>
              <a:buChar char="ü"/>
            </a:pPr>
            <a:r>
              <a:rPr lang="pt-BR" alt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Bacharel  em Ciências Estatísticas - ESEB</a:t>
            </a:r>
          </a:p>
          <a:p>
            <a:pPr algn="just" eaLnBrk="0" hangingPunct="0">
              <a:buFont typeface="Wingdings" panose="05000000000000000000" pitchFamily="2" charset="2"/>
              <a:buChar char="ü"/>
            </a:pPr>
            <a:r>
              <a:rPr lang="pt-BR" altLang="pt-B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Processamento Dados Profissionalizante - EEEMBA</a:t>
            </a:r>
            <a:endParaRPr lang="pt-BR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3C1D5BE-B08D-43BA-9100-4319F7669DAD}"/>
              </a:ext>
            </a:extLst>
          </p:cNvPr>
          <p:cNvCxnSpPr>
            <a:cxnSpLocks/>
          </p:cNvCxnSpPr>
          <p:nvPr/>
        </p:nvCxnSpPr>
        <p:spPr>
          <a:xfrm flipV="1">
            <a:off x="310728" y="902136"/>
            <a:ext cx="8699160" cy="40954"/>
          </a:xfrm>
          <a:prstGeom prst="line">
            <a:avLst/>
          </a:prstGeom>
          <a:ln w="38100"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98002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Visão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Geral</a:t>
            </a:r>
            <a:r>
              <a:rPr lang="en-US" b="1" dirty="0">
                <a:solidFill>
                  <a:srgbClr val="0070C0"/>
                </a:solidFill>
              </a:rPr>
              <a:t> da </a:t>
            </a:r>
            <a:r>
              <a:rPr lang="en-US" b="1" dirty="0" err="1">
                <a:solidFill>
                  <a:srgbClr val="0070C0"/>
                </a:solidFill>
              </a:rPr>
              <a:t>Disciplina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104186"/>
            <a:ext cx="8865056" cy="3957406"/>
          </a:xfrm>
        </p:spPr>
        <p:txBody>
          <a:bodyPr>
            <a:noAutofit/>
          </a:bodyPr>
          <a:lstStyle/>
          <a:p>
            <a:pPr marL="0" indent="0" algn="just" eaLnBrk="0" hangingPunct="0">
              <a:buNone/>
            </a:pPr>
            <a:endParaRPr lang="pt-BR" alt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0" hangingPunct="0">
              <a:buNone/>
            </a:pPr>
            <a:endParaRPr lang="pt-BR" alt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0" hangingPunct="0">
              <a:buNone/>
            </a:pPr>
            <a:r>
              <a:rPr lang="pt-BR" alt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disciplina visa apresentar aos discentes, a integração entre ensino, pesquisa e extensão com os eixos da Gestão de Informação, através de projetos.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3C1D5BE-B08D-43BA-9100-4319F7669DAD}"/>
              </a:ext>
            </a:extLst>
          </p:cNvPr>
          <p:cNvCxnSpPr>
            <a:cxnSpLocks/>
          </p:cNvCxnSpPr>
          <p:nvPr/>
        </p:nvCxnSpPr>
        <p:spPr>
          <a:xfrm flipV="1">
            <a:off x="310728" y="902136"/>
            <a:ext cx="8699160" cy="40954"/>
          </a:xfrm>
          <a:prstGeom prst="line">
            <a:avLst/>
          </a:prstGeom>
          <a:ln w="38100"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44096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Objetivos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Habilidades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104186"/>
            <a:ext cx="8865056" cy="3833334"/>
          </a:xfrm>
        </p:spPr>
        <p:txBody>
          <a:bodyPr>
            <a:noAutofit/>
          </a:bodyPr>
          <a:lstStyle/>
          <a:p>
            <a:pPr algn="just" eaLnBrk="0" hangingPunct="0">
              <a:buFont typeface="Wingdings" panose="05000000000000000000" pitchFamily="2" charset="2"/>
              <a:buChar char="§"/>
            </a:pPr>
            <a:r>
              <a:rPr lang="pt-BR" alt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estruturar projetos e soluções de sistemas de controle;</a:t>
            </a:r>
          </a:p>
          <a:p>
            <a:pPr algn="just" eaLnBrk="0" hangingPunct="0">
              <a:buFont typeface="Wingdings" panose="05000000000000000000" pitchFamily="2" charset="2"/>
              <a:buChar char="§"/>
            </a:pPr>
            <a:endParaRPr lang="pt-BR" alt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hangingPunct="0">
              <a:buFont typeface="Wingdings" panose="05000000000000000000" pitchFamily="2" charset="2"/>
              <a:buChar char="§"/>
            </a:pPr>
            <a:r>
              <a:rPr lang="pt-BR" alt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automatizar tarefas de acionamentos e sensoriamento de equipamentos;</a:t>
            </a:r>
          </a:p>
          <a:p>
            <a:pPr algn="just" eaLnBrk="0" hangingPunct="0">
              <a:buFont typeface="Wingdings" panose="05000000000000000000" pitchFamily="2" charset="2"/>
              <a:buChar char="§"/>
            </a:pPr>
            <a:endParaRPr lang="pt-BR" alt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hangingPunct="0">
              <a:buFont typeface="Wingdings" panose="05000000000000000000" pitchFamily="2" charset="2"/>
              <a:buChar char="§"/>
            </a:pPr>
            <a:r>
              <a:rPr lang="pt-BR" alt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solucionar demandas de interligação </a:t>
            </a:r>
            <a:r>
              <a:rPr lang="pt-BR" altLang="pt-BR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 sistemas </a:t>
            </a:r>
            <a:r>
              <a:rPr lang="pt-BR" alt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informação.</a:t>
            </a:r>
          </a:p>
          <a:p>
            <a:pPr algn="just" eaLnBrk="0" hangingPunct="0">
              <a:buFont typeface="Wingdings" panose="05000000000000000000" pitchFamily="2" charset="2"/>
              <a:buChar char="§"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3C1D5BE-B08D-43BA-9100-4319F7669DAD}"/>
              </a:ext>
            </a:extLst>
          </p:cNvPr>
          <p:cNvCxnSpPr>
            <a:cxnSpLocks/>
          </p:cNvCxnSpPr>
          <p:nvPr/>
        </p:nvCxnSpPr>
        <p:spPr>
          <a:xfrm flipV="1">
            <a:off x="310728" y="902136"/>
            <a:ext cx="8699160" cy="40954"/>
          </a:xfrm>
          <a:prstGeom prst="line">
            <a:avLst/>
          </a:prstGeom>
          <a:ln w="38100"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16335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Unidades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Conteúdos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104186"/>
            <a:ext cx="8865056" cy="3833334"/>
          </a:xfrm>
        </p:spPr>
        <p:txBody>
          <a:bodyPr>
            <a:noAutofit/>
          </a:bodyPr>
          <a:lstStyle/>
          <a:p>
            <a:pPr marL="457200" indent="-457200" algn="just" eaLnBrk="0" hangingPunct="0">
              <a:buAutoNum type="arabicPeriod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457200" indent="-457200" algn="just" eaLnBrk="0" hangingPunct="0">
              <a:buAutoNum type="arabicPeriod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eaLnBrk="0" hangingPunct="0">
              <a:buAutoNum type="arabicPeriod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457200" indent="-457200" algn="just" eaLnBrk="0" hangingPunct="0">
              <a:buAutoNum type="arabicPeriod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eaLnBrk="0" hangingPunct="0">
              <a:buAutoNum type="arabicPeriod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457200" indent="-457200" algn="just" eaLnBrk="0" hangingPunct="0">
              <a:buAutoNum type="arabicPeriod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eaLnBrk="0" hangingPunct="0">
              <a:buAutoNum type="arabicPeriod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  <a:p>
            <a:pPr marL="457200" indent="-457200" algn="just" eaLnBrk="0" hangingPunct="0">
              <a:buAutoNum type="arabicPeriod"/>
            </a:pP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eaLnBrk="0" hangingPunct="0">
              <a:buAutoNum type="arabicPeriod"/>
            </a:pP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3C1D5BE-B08D-43BA-9100-4319F7669DAD}"/>
              </a:ext>
            </a:extLst>
          </p:cNvPr>
          <p:cNvCxnSpPr>
            <a:cxnSpLocks/>
          </p:cNvCxnSpPr>
          <p:nvPr/>
        </p:nvCxnSpPr>
        <p:spPr>
          <a:xfrm flipV="1">
            <a:off x="310728" y="902136"/>
            <a:ext cx="8699160" cy="40954"/>
          </a:xfrm>
          <a:prstGeom prst="line">
            <a:avLst/>
          </a:prstGeom>
          <a:ln w="38100"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265390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Metodologia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Avaliação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104186"/>
            <a:ext cx="8865056" cy="3540965"/>
          </a:xfrm>
        </p:spPr>
        <p:txBody>
          <a:bodyPr>
            <a:noAutofit/>
          </a:bodyPr>
          <a:lstStyle/>
          <a:p>
            <a:pPr marL="342900" indent="-342900" eaLnBrk="0" hangingPunct="0">
              <a:buFont typeface="Wingdings" panose="05000000000000000000" pitchFamily="2" charset="2"/>
              <a:buChar char="§"/>
              <a:defRPr/>
            </a:pPr>
            <a:r>
              <a:rPr lang="pt-BR" sz="2400" dirty="0">
                <a:solidFill>
                  <a:srgbClr val="FF0000"/>
                </a:solidFill>
              </a:rPr>
              <a:t>Inovações Didática, Digital e </a:t>
            </a:r>
            <a:r>
              <a:rPr lang="pt-BR" sz="2400" dirty="0">
                <a:solidFill>
                  <a:srgbClr val="0070C0"/>
                </a:solidFill>
              </a:rPr>
              <a:t>Metodologias Ativas </a:t>
            </a:r>
            <a:r>
              <a:rPr lang="pt-BR" sz="2400" dirty="0">
                <a:solidFill>
                  <a:srgbClr val="FF0000"/>
                </a:solidFill>
              </a:rPr>
              <a:t>e Educação Digital</a:t>
            </a:r>
          </a:p>
          <a:p>
            <a:pPr algn="just" eaLnBrk="0" hangingPunct="0">
              <a:buFont typeface="Wingdings" panose="05000000000000000000" pitchFamily="2" charset="2"/>
              <a:buChar char="§"/>
              <a:defRPr/>
            </a:pPr>
            <a:r>
              <a:rPr lang="pt-BR" sz="2400" dirty="0"/>
              <a:t>O processo de ensino-­aprendizagem será baseado em 3 etapas: a preleção, a partir da definição de uma situação problema (temática/problematização/pergunta geradora), utilização de metodologias ativas centradas no protagonismo do aluno e realização de uma atividade verificadora da aprendizagem ao final da aula.</a:t>
            </a:r>
          </a:p>
          <a:p>
            <a:pPr marL="342900" indent="-342900" eaLnBrk="0" hangingPunct="0">
              <a:buFont typeface="Wingdings" panose="05000000000000000000" pitchFamily="2" charset="2"/>
              <a:buChar char="§"/>
              <a:defRPr/>
            </a:pPr>
            <a:r>
              <a:rPr lang="pt-BR" sz="2400" dirty="0"/>
              <a:t>Pesquisa Bibliográfica</a:t>
            </a: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3C1D5BE-B08D-43BA-9100-4319F7669DAD}"/>
              </a:ext>
            </a:extLst>
          </p:cNvPr>
          <p:cNvCxnSpPr>
            <a:cxnSpLocks/>
          </p:cNvCxnSpPr>
          <p:nvPr/>
        </p:nvCxnSpPr>
        <p:spPr>
          <a:xfrm flipV="1">
            <a:off x="310728" y="902136"/>
            <a:ext cx="8699160" cy="40954"/>
          </a:xfrm>
          <a:prstGeom prst="line">
            <a:avLst/>
          </a:prstGeom>
          <a:ln w="38100"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634326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Metodologia</a:t>
            </a:r>
            <a:r>
              <a:rPr lang="en-US" b="1" dirty="0">
                <a:solidFill>
                  <a:srgbClr val="0070C0"/>
                </a:solidFill>
              </a:rPr>
              <a:t>/</a:t>
            </a:r>
            <a:r>
              <a:rPr lang="en-US" b="1" dirty="0" err="1">
                <a:solidFill>
                  <a:srgbClr val="0070C0"/>
                </a:solidFill>
              </a:rPr>
              <a:t>Avaliação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104186"/>
            <a:ext cx="8865056" cy="3540965"/>
          </a:xfrm>
        </p:spPr>
        <p:txBody>
          <a:bodyPr>
            <a:noAutofit/>
          </a:bodyPr>
          <a:lstStyle/>
          <a:p>
            <a:pPr marL="342900" indent="-342900" eaLnBrk="0" hangingPunct="0">
              <a:buFont typeface="Wingdings" panose="05000000000000000000" pitchFamily="2" charset="2"/>
              <a:buChar char="§"/>
              <a:defRPr/>
            </a:pPr>
            <a:r>
              <a:rPr lang="pt-BR" sz="2400" dirty="0"/>
              <a:t>Exercícios/Atividades</a:t>
            </a:r>
          </a:p>
          <a:p>
            <a:pPr marL="342900" indent="-342900" eaLnBrk="0" hangingPunct="0">
              <a:buFont typeface="Wingdings" panose="05000000000000000000" pitchFamily="2" charset="2"/>
              <a:buChar char="§"/>
              <a:defRPr/>
            </a:pPr>
            <a:r>
              <a:rPr lang="pt-BR" sz="2400" b="1" dirty="0">
                <a:solidFill>
                  <a:srgbClr val="0070C0"/>
                </a:solidFill>
              </a:rPr>
              <a:t>NF</a:t>
            </a:r>
            <a:r>
              <a:rPr lang="pt-BR" sz="2400" dirty="0"/>
              <a:t> - PBL(projeto/problema) Peso 10 (</a:t>
            </a:r>
            <a:r>
              <a:rPr lang="pt-BR" sz="2400" dirty="0" err="1"/>
              <a:t>Barema</a:t>
            </a:r>
            <a:r>
              <a:rPr lang="pt-BR" sz="2400" dirty="0"/>
              <a:t>)</a:t>
            </a:r>
          </a:p>
          <a:p>
            <a:pPr marL="342900" indent="-342900" eaLnBrk="0" hangingPunct="0">
              <a:buFont typeface="Wingdings" panose="05000000000000000000" pitchFamily="2" charset="2"/>
              <a:buChar char="§"/>
              <a:defRPr/>
            </a:pPr>
            <a:r>
              <a:rPr lang="pt-BR" sz="2400" b="1" dirty="0">
                <a:solidFill>
                  <a:srgbClr val="FF0000"/>
                </a:solidFill>
              </a:rPr>
              <a:t>SIM1</a:t>
            </a:r>
            <a:r>
              <a:rPr lang="pt-BR" sz="2400" dirty="0"/>
              <a:t> (</a:t>
            </a:r>
            <a:r>
              <a:rPr lang="pt-BR" sz="2400" b="1" dirty="0"/>
              <a:t>Elaborado pelo docente</a:t>
            </a:r>
            <a:r>
              <a:rPr lang="pt-BR" sz="2400" dirty="0"/>
              <a:t>) até 1 ponto</a:t>
            </a:r>
          </a:p>
          <a:p>
            <a:pPr marL="342900" indent="-342900" eaLnBrk="0" hangingPunct="0">
              <a:buFont typeface="Wingdings" panose="05000000000000000000" pitchFamily="2" charset="2"/>
              <a:buChar char="§"/>
              <a:defRPr/>
            </a:pPr>
            <a:r>
              <a:rPr lang="pt-BR" sz="2400" b="1" dirty="0">
                <a:solidFill>
                  <a:srgbClr val="00B050"/>
                </a:solidFill>
              </a:rPr>
              <a:t>SIM2</a:t>
            </a:r>
            <a:r>
              <a:rPr lang="pt-BR" sz="2400" dirty="0"/>
              <a:t> (Gerada pela </a:t>
            </a:r>
            <a:r>
              <a:rPr lang="pt-BR" sz="2400" b="1" dirty="0"/>
              <a:t>Instituição</a:t>
            </a:r>
            <a:r>
              <a:rPr lang="pt-BR" sz="2400" dirty="0"/>
              <a:t>) até 1 ponto</a:t>
            </a:r>
          </a:p>
          <a:p>
            <a:pPr marL="0" indent="0" algn="just" eaLnBrk="0" hangingPunct="0">
              <a:buNone/>
            </a:pPr>
            <a:endParaRPr lang="pt-B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0" hangingPunct="0">
              <a:buNone/>
            </a:pP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Média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pt-BR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NF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pt-BR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SIM1</a:t>
            </a:r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SIM2</a:t>
            </a:r>
            <a:r>
              <a:rPr lang="pt-B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3C1D5BE-B08D-43BA-9100-4319F7669DAD}"/>
              </a:ext>
            </a:extLst>
          </p:cNvPr>
          <p:cNvCxnSpPr>
            <a:cxnSpLocks/>
          </p:cNvCxnSpPr>
          <p:nvPr/>
        </p:nvCxnSpPr>
        <p:spPr>
          <a:xfrm flipV="1">
            <a:off x="310728" y="902136"/>
            <a:ext cx="8699160" cy="40954"/>
          </a:xfrm>
          <a:prstGeom prst="line">
            <a:avLst/>
          </a:prstGeom>
          <a:ln w="38100"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89985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116712"/>
            <a:ext cx="8865056" cy="3833334"/>
          </a:xfrm>
        </p:spPr>
        <p:txBody>
          <a:bodyPr>
            <a:noAutofit/>
          </a:bodyPr>
          <a:lstStyle/>
          <a:p>
            <a:pPr algn="just" eaLnBrk="0" hangingPunct="0"/>
            <a:r>
              <a:rPr lang="pt-BR" sz="1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BÁSICA</a:t>
            </a:r>
          </a:p>
          <a:p>
            <a:pPr marL="0" indent="0" algn="just" eaLnBrk="0" hangingPunct="0">
              <a:buNone/>
            </a:pPr>
            <a:endParaRPr 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0" hangingPunct="0">
              <a:buNone/>
            </a:pPr>
            <a:r>
              <a:rPr 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3C1D5BE-B08D-43BA-9100-4319F7669DAD}"/>
              </a:ext>
            </a:extLst>
          </p:cNvPr>
          <p:cNvCxnSpPr>
            <a:cxnSpLocks/>
          </p:cNvCxnSpPr>
          <p:nvPr/>
        </p:nvCxnSpPr>
        <p:spPr>
          <a:xfrm flipV="1">
            <a:off x="310728" y="902136"/>
            <a:ext cx="8699160" cy="40954"/>
          </a:xfrm>
          <a:prstGeom prst="line">
            <a:avLst/>
          </a:prstGeom>
          <a:ln w="38100"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389132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05980"/>
            <a:ext cx="8229600" cy="857251"/>
          </a:xfrm>
        </p:spPr>
        <p:txBody>
          <a:bodyPr/>
          <a:lstStyle/>
          <a:p>
            <a:r>
              <a:rPr lang="en-US" b="1" dirty="0" err="1">
                <a:solidFill>
                  <a:srgbClr val="0070C0"/>
                </a:solidFill>
              </a:rPr>
              <a:t>Referências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b="1" dirty="0" err="1">
                <a:solidFill>
                  <a:srgbClr val="0070C0"/>
                </a:solidFill>
              </a:rPr>
              <a:t>Bibliográficas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865" y="1104186"/>
            <a:ext cx="8865056" cy="3833334"/>
          </a:xfrm>
        </p:spPr>
        <p:txBody>
          <a:bodyPr>
            <a:noAutofit/>
          </a:bodyPr>
          <a:lstStyle/>
          <a:p>
            <a:pPr algn="just" eaLnBrk="0" hangingPunct="0"/>
            <a:r>
              <a:rPr lang="pt-BR" sz="1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COMPLEMENTAR</a:t>
            </a:r>
          </a:p>
          <a:p>
            <a:pPr marL="0" indent="0" algn="just" eaLnBrk="0" hangingPunct="0">
              <a:buNone/>
            </a:pPr>
            <a:endParaRPr lang="pt-BR" altLang="pt-BR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eaLnBrk="0" hangingPunct="0">
              <a:buNone/>
            </a:pPr>
            <a:r>
              <a:rPr lang="pt-BR" altLang="pt-B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3C1D5BE-B08D-43BA-9100-4319F7669DAD}"/>
              </a:ext>
            </a:extLst>
          </p:cNvPr>
          <p:cNvCxnSpPr>
            <a:cxnSpLocks/>
          </p:cNvCxnSpPr>
          <p:nvPr/>
        </p:nvCxnSpPr>
        <p:spPr>
          <a:xfrm flipV="1">
            <a:off x="310728" y="902136"/>
            <a:ext cx="8699160" cy="40954"/>
          </a:xfrm>
          <a:prstGeom prst="line">
            <a:avLst/>
          </a:prstGeom>
          <a:ln w="38100"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58933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4" name="Picture 5" descr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0"/>
            <a:ext cx="4391984" cy="1714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5" name="Imagem" descr="Image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46" y="300823"/>
            <a:ext cx="3685692" cy="118905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285751" y="2386770"/>
            <a:ext cx="8615364" cy="1102519"/>
          </a:xfrm>
        </p:spPr>
        <p:txBody>
          <a:bodyPr>
            <a:noAutofit/>
          </a:bodyPr>
          <a:lstStyle/>
          <a:p>
            <a:r>
              <a:rPr lang="pt-BR" sz="4800" b="1" dirty="0">
                <a:solidFill>
                  <a:schemeClr val="bg1"/>
                </a:solidFill>
              </a:rPr>
              <a:t>Gestão da Informação</a:t>
            </a:r>
          </a:p>
        </p:txBody>
      </p:sp>
      <p:sp>
        <p:nvSpPr>
          <p:cNvPr id="6" name="Título 2"/>
          <p:cNvSpPr txBox="1"/>
          <p:nvPr/>
        </p:nvSpPr>
        <p:spPr>
          <a:xfrm>
            <a:off x="975683" y="3866663"/>
            <a:ext cx="7772400" cy="110251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r" hangingPunct="1"/>
            <a:r>
              <a:rPr lang="pt-BR" sz="2000" b="1" dirty="0">
                <a:solidFill>
                  <a:schemeClr val="bg1"/>
                </a:solidFill>
              </a:rPr>
              <a:t>Professor </a:t>
            </a:r>
            <a:r>
              <a:rPr lang="pt-BR" sz="2000" b="1">
                <a:solidFill>
                  <a:schemeClr val="bg1"/>
                </a:solidFill>
              </a:rPr>
              <a:t>M.Sc</a:t>
            </a:r>
            <a:r>
              <a:rPr lang="pt-BR" sz="2000" b="1" dirty="0">
                <a:solidFill>
                  <a:schemeClr val="bg1"/>
                </a:solidFill>
              </a:rPr>
              <a:t>. Heleno Cardoso</a:t>
            </a:r>
          </a:p>
        </p:txBody>
      </p:sp>
      <p:sp>
        <p:nvSpPr>
          <p:cNvPr id="7" name="Título 2">
            <a:extLst>
              <a:ext uri="{FF2B5EF4-FFF2-40B4-BE49-F238E27FC236}">
                <a16:creationId xmlns:a16="http://schemas.microsoft.com/office/drawing/2014/main" id="{20DAA8A4-7BF8-435F-BB29-C3C9647C597B}"/>
              </a:ext>
            </a:extLst>
          </p:cNvPr>
          <p:cNvSpPr txBox="1">
            <a:spLocks/>
          </p:cNvSpPr>
          <p:nvPr/>
        </p:nvSpPr>
        <p:spPr>
          <a:xfrm>
            <a:off x="7484030" y="110109"/>
            <a:ext cx="1613368" cy="855867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hangingPunct="1"/>
            <a:r>
              <a:rPr lang="pt-BR" sz="3600" b="1" dirty="0">
                <a:solidFill>
                  <a:schemeClr val="bg1"/>
                </a:solidFill>
              </a:rPr>
              <a:t>YDUQS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2510</TotalTime>
  <Words>311</Words>
  <Application>Microsoft Office PowerPoint</Application>
  <PresentationFormat>Apresentação na tela (16:9)</PresentationFormat>
  <Paragraphs>57</Paragraphs>
  <Slides>11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</vt:lpstr>
      <vt:lpstr>Office Theme</vt:lpstr>
      <vt:lpstr>Gestão da Informação</vt:lpstr>
      <vt:lpstr>   1 – Apresentação Pessoal 2 – Visão Geral da Disciplina 3 – Objetivos/Habilidades 4 – Unidades/Conteúdos 5 – Metodologia/Avaliação 6 – Referências Bibliográficas  </vt:lpstr>
      <vt:lpstr>Apresentação Pessoal</vt:lpstr>
      <vt:lpstr>Visão Geral da Disciplina</vt:lpstr>
      <vt:lpstr>Objetivos/Habilidades</vt:lpstr>
      <vt:lpstr>Unidades/Conteúdos</vt:lpstr>
      <vt:lpstr>Metodologia/Avaliação</vt:lpstr>
      <vt:lpstr>Metodologia/Avaliação</vt:lpstr>
      <vt:lpstr>Referências Bibliográficas</vt:lpstr>
      <vt:lpstr>Referências Bibliográficas</vt:lpstr>
      <vt:lpstr>Gestão da Informação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Nome da Disciplina</dc:title>
  <dc:creator>JOAO CAIRO FERREIRA</dc:creator>
  <cp:lastModifiedBy>Heleno Cardoso</cp:lastModifiedBy>
  <cp:revision>642</cp:revision>
  <dcterms:created xsi:type="dcterms:W3CDTF">2020-03-17T20:12:34Z</dcterms:created>
  <dcterms:modified xsi:type="dcterms:W3CDTF">2026-02-28T20:18:22Z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1033-11.1.0.9126</vt:lpwstr>
  </property>
</Properties>
</file>