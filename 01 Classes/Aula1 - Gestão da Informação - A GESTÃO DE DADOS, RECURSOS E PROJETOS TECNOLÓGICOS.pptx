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91" r:id="rId3"/>
    <p:sldId id="331" r:id="rId4"/>
    <p:sldId id="351" r:id="rId5"/>
    <p:sldId id="359" r:id="rId6"/>
    <p:sldId id="365" r:id="rId7"/>
    <p:sldId id="366" r:id="rId8"/>
    <p:sldId id="367" r:id="rId9"/>
    <p:sldId id="368" r:id="rId10"/>
    <p:sldId id="369" r:id="rId11"/>
    <p:sldId id="370" r:id="rId12"/>
    <p:sldId id="371" r:id="rId13"/>
    <p:sldId id="372" r:id="rId14"/>
    <p:sldId id="373" r:id="rId15"/>
    <p:sldId id="374" r:id="rId16"/>
    <p:sldId id="375" r:id="rId17"/>
    <p:sldId id="376" r:id="rId18"/>
    <p:sldId id="377" r:id="rId19"/>
    <p:sldId id="333" r:id="rId20"/>
    <p:sldId id="323" r:id="rId21"/>
    <p:sldId id="360" r:id="rId22"/>
    <p:sldId id="364" r:id="rId23"/>
    <p:sldId id="337" r:id="rId24"/>
    <p:sldId id="309" r:id="rId25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157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Estilo Claro 2 - Ênfas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147" autoAdjust="0"/>
    <p:restoredTop sz="83649" autoAdjust="0"/>
  </p:normalViewPr>
  <p:slideViewPr>
    <p:cSldViewPr snapToGrid="0">
      <p:cViewPr varScale="1">
        <p:scale>
          <a:sx n="71" d="100"/>
          <a:sy n="71" d="100"/>
        </p:scale>
        <p:origin x="678" y="60"/>
      </p:cViewPr>
      <p:guideLst>
        <p:guide orient="horz" pos="157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494"/>
    </p:cViewPr>
  </p:sorterViewPr>
  <p:notesViewPr>
    <p:cSldViewPr snapToGrid="0">
      <p:cViewPr varScale="1">
        <p:scale>
          <a:sx n="56" d="100"/>
          <a:sy n="56" d="100"/>
        </p:scale>
        <p:origin x="-2826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625259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7397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35753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F82FE-E9FE-4711-F16F-6CD979D03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9CBEBE9-EE3E-E401-1F11-8FEF739B34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54943BC-75EB-B1E5-17C0-C1AF37024A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256309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9F998-DDD7-B7EF-E476-981407B12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6CD8C57-BE75-51F1-68C3-9B070ED323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DF4D602-687D-9781-CFA5-BA7EBED61B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697688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2DB8F-3C77-6A9B-163B-8D1A3C05D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0BEAABB-1C97-DBC8-E4B5-09C2DA2588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963A796-76F7-372A-EC4F-37553192E2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572296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83066-BE08-312E-65F8-555315544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59420D1-292A-54C8-F2F0-6FDC3FD340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E443FE3-4E57-036D-7898-8713D78299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919906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9725D-2519-16C8-A3D4-631A7FC6D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505BCD6-5BA6-2B22-0164-C6CD5CB910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2CA9415-5250-55A4-E959-788AFA24C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836529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A2774-FB10-D6E6-B134-D2A332288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B6A9C89-3BA3-80F8-FE36-262283F72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CB63293-519E-A9B7-3D0B-A06ADB3CDF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764980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1D5E4-1850-AD93-4CBF-A34A21E07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930D9B2-70ED-7ADB-BD9B-04DF4B02B3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175FF55-D223-9603-B404-649D12F272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61997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9B8D8-1B84-2FA0-930C-06CD22F2E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49906C2-F793-F605-9885-70B4E92004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A1D749C-8167-8B1F-2815-233C6E5B7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791627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9A111-E6CA-C3DA-71C8-23113FAC2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5EBBDFF-4159-6DAE-4A4B-CBCA57A031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94D4D80-CA0F-7E93-5E50-B9E3D1C6B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200800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65736-C87F-1BC8-8A5C-C5951074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4DD94E8-75EB-A22A-E791-1C156AC4F1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645C971-B579-F6B5-FB86-A9D1868986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634432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05A24-014B-CFB1-67DA-CD8DC6B3C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FCAC064-3D09-40E4-FD8F-43CF72B8C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B1F5FB1-7DFA-196A-73E5-86E2BCBD5D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871993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BBC1A-2ABC-1AF7-2B3E-E6FE56042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275C0AF-8F40-E2B7-D351-A916FAE293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0321060-FDEC-42BA-5CD7-AF880F984D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966823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9008E-2094-1B9C-E608-28A36D9B8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4B3E39F-DE52-225C-53A4-86186CEF15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3DBAC46-DA3A-D586-E6D5-6E2D8850B0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302337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02CF2-8890-17E2-6F02-2725B6BED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40BA84A-4A50-BDC5-636F-3DA97201D6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CAC5BC4-6AA5-056E-1C7B-B86CF14C12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10920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5F9A5-2B7C-EC95-FF30-A3D7AA85B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A5C5892-48CC-D619-836F-9DDA9F98B6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AC7FDF9-705D-B336-635B-948C11707A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729413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53043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95695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63E5B-C292-859D-FB83-976D9C6E3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4E4371D-BD8E-838C-430B-89FECE90D3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01DF927-0375-C257-C3B6-37010EA380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560692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F3ED1-8736-E6BD-94DA-6DE2AFCB6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ECC5B1E-EA9B-015C-52BE-28A15F5C9B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526CAA1-29AA-30CE-D426-27D952B675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316222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90351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85802" y="1597820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2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722313" y="3305176"/>
            <a:ext cx="7772402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Texto do Título</a:t>
            </a:r>
          </a:p>
        </p:txBody>
      </p:sp>
      <p:sp>
        <p:nvSpPr>
          <p:cNvPr id="30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22313" y="2180035"/>
            <a:ext cx="7772402" cy="112514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31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39" name="Nível de Corpo Um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57201" y="1200151"/>
            <a:ext cx="4038601" cy="3394472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40" indent="-320040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48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45028" y="1151334"/>
            <a:ext cx="4041774" cy="479824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5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457203" y="204787"/>
            <a:ext cx="3008315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Texto do Título</a:t>
            </a:r>
          </a:p>
        </p:txBody>
      </p:sp>
      <p:sp>
        <p:nvSpPr>
          <p:cNvPr id="73" name="Nível de Corpo Um…"/>
          <p:cNvSpPr txBox="1">
            <a:spLocks noGrp="1"/>
          </p:cNvSpPr>
          <p:nvPr>
            <p:ph type="body" idx="1" hasCustomPrompt="1"/>
          </p:nvPr>
        </p:nvSpPr>
        <p:spPr>
          <a:xfrm>
            <a:off x="3575052" y="204789"/>
            <a:ext cx="5111749" cy="4389835"/>
          </a:xfrm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13"/>
          </p:nvPr>
        </p:nvSpPr>
        <p:spPr>
          <a:xfrm>
            <a:off x="457198" y="1076326"/>
            <a:ext cx="3008316" cy="351829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1792289" y="3600450"/>
            <a:ext cx="5486402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Texto do Título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792289" y="459581"/>
            <a:ext cx="5486402" cy="3086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92289" y="4025503"/>
            <a:ext cx="5486402" cy="60364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8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93" name="Nível de Corpo Um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94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629399" y="205980"/>
            <a:ext cx="2057401" cy="4388645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02" name="Nível de Corpo Um…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205980"/>
            <a:ext cx="6019801" cy="4388645"/>
          </a:xfrm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0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 txBox="1"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rmAutofit/>
          </a:bodyPr>
          <a:lstStyle/>
          <a:p>
            <a:r>
              <a:t>Texto do Título</a:t>
            </a:r>
          </a:p>
        </p:txBody>
      </p:sp>
      <p:sp>
        <p:nvSpPr>
          <p:cNvPr id="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normAutofit/>
          </a:bodyPr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8342803" y="4765688"/>
            <a:ext cx="344000" cy="276995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t>‹nº›</a:t>
            </a:fld>
            <a:endParaRPr/>
          </a:p>
        </p:txBody>
      </p:sp>
      <p:pic>
        <p:nvPicPr>
          <p:cNvPr id="5" name="Picture 5" descr="Picture 5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" name="Picture 6" descr="Picture 6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649752" y="4972050"/>
            <a:ext cx="2494252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" name="Imagem" descr="Imagem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051528" y="4341020"/>
            <a:ext cx="1690697" cy="54544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590" marR="0" indent="-32639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br-pt/topics/data-governance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mckinsey.com/capabilities/mckinsey-digital/our-insights/what-is-digital-transformation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NlnCPVizGrY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youtube.com/watch?v=LLP0H89Gh-A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GESTÃO DE INFORMAÇÃO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  <p:pic>
        <p:nvPicPr>
          <p:cNvPr id="2" name="Google Shape;62;p1" descr="Imagem">
            <a:extLst>
              <a:ext uri="{FF2B5EF4-FFF2-40B4-BE49-F238E27FC236}">
                <a16:creationId xmlns:a16="http://schemas.microsoft.com/office/drawing/2014/main" id="{D9A56D89-1300-762A-5BD5-16B3C4E9985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9898" y="343798"/>
            <a:ext cx="2858518" cy="1338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348258" y="2277667"/>
            <a:ext cx="8681444" cy="1102519"/>
          </a:xfrm>
        </p:spPr>
        <p:txBody>
          <a:bodyPr>
            <a:noAutofit/>
          </a:bodyPr>
          <a:lstStyle/>
          <a:p>
            <a:pPr algn="l"/>
            <a:br>
              <a:rPr lang="pt-BR" sz="3200" b="1" dirty="0">
                <a:solidFill>
                  <a:schemeClr val="bg1"/>
                </a:solidFill>
              </a:rPr>
            </a:br>
            <a:r>
              <a:rPr lang="pt-BR" sz="3200" b="1" dirty="0">
                <a:solidFill>
                  <a:schemeClr val="bg1"/>
                </a:solidFill>
              </a:rPr>
              <a:t>Aula 01</a:t>
            </a:r>
            <a:br>
              <a:rPr lang="pt-BR" sz="3200" b="1" dirty="0">
                <a:solidFill>
                  <a:schemeClr val="bg1"/>
                </a:solidFill>
              </a:rPr>
            </a:br>
            <a:r>
              <a:rPr lang="pt-BR" sz="3200" b="1" dirty="0">
                <a:solidFill>
                  <a:schemeClr val="bg1"/>
                </a:solidFill>
              </a:rPr>
              <a:t>	A GESTÃO DE DADOS, RECURSOS E PROJETOS TECNOLÓGICOS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  <p:pic>
        <p:nvPicPr>
          <p:cNvPr id="4" name="Google Shape;62;p1" descr="Imagem">
            <a:extLst>
              <a:ext uri="{FF2B5EF4-FFF2-40B4-BE49-F238E27FC236}">
                <a16:creationId xmlns:a16="http://schemas.microsoft.com/office/drawing/2014/main" id="{652F850C-6AD9-5CD4-839F-152858F1361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9898" y="343798"/>
            <a:ext cx="2858518" cy="1338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Objetivo</a:t>
            </a:r>
            <a:r>
              <a:rPr lang="en-US" b="1" dirty="0">
                <a:solidFill>
                  <a:srgbClr val="0070C0"/>
                </a:solidFill>
              </a:rPr>
              <a:t> da Aula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5050"/>
            <a:ext cx="8865056" cy="3994150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Compreender a gestão integrada de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Dados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Recursos organizacionais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Projetos tecnológicos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pt-BR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Relacionar teoria com situações reais de mercado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pt-BR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Desenvolver pensamento crítico na tomada de decisão</a:t>
            </a:r>
          </a:p>
          <a:p>
            <a:pPr marL="0" indent="0" algn="just">
              <a:buNone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98002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8C01A-0A73-4711-4338-ECFF16710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CB606F2-DABE-5BA9-1239-D171CC47F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Contextualização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95EDD4A-F8A2-F443-E99A-7DC63EF0690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994709"/>
            <a:ext cx="8865056" cy="3994150"/>
          </a:xfrm>
        </p:spPr>
        <p:txBody>
          <a:bodyPr>
            <a:noAutofit/>
          </a:bodyPr>
          <a:lstStyle/>
          <a:p>
            <a:pPr lvl="0"/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Empresas são movidas por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Dados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Tecnologia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Pessoas </a:t>
            </a:r>
          </a:p>
          <a:p>
            <a:pPr lvl="0"/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gestão eficiente desses elementos impacta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Competitividade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Inovação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Sustentabilidade </a:t>
            </a: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Exemplo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Sistemas ERP, BI, Cloud 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Computing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487960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F78D4-AA2A-9548-1458-4282C87E4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71B9559-42F0-0FC9-9A75-806C67E8F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Demandas</a:t>
            </a:r>
            <a:r>
              <a:rPr lang="en-US" b="1" dirty="0">
                <a:solidFill>
                  <a:srgbClr val="0070C0"/>
                </a:solidFill>
              </a:rPr>
              <a:t> e </a:t>
            </a:r>
            <a:r>
              <a:rPr lang="en-US" b="1" dirty="0" err="1">
                <a:solidFill>
                  <a:srgbClr val="0070C0"/>
                </a:solidFill>
              </a:rPr>
              <a:t>Recursos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Organizacionais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6C6C600-F074-18C6-4777-82B92A5B011E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5050"/>
            <a:ext cx="8865056" cy="3994150"/>
          </a:xfrm>
        </p:spPr>
        <p:txBody>
          <a:bodyPr>
            <a:noAutofit/>
          </a:bodyPr>
          <a:lstStyle/>
          <a:p>
            <a:pPr lvl="0"/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Demandas organizacionais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Necessidades do negócio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Problemas a resolver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Recursos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Humanos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Tecnológicos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Financeiros </a:t>
            </a:r>
          </a:p>
        </p:txBody>
      </p:sp>
    </p:spTree>
    <p:extLst>
      <p:ext uri="{BB962C8B-B14F-4D97-AF65-F5344CB8AC3E}">
        <p14:creationId xmlns:p14="http://schemas.microsoft.com/office/powerpoint/2010/main" val="270521584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1750F-7CA1-8BF1-2480-775677CA9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5774404-64C6-A85C-AB6D-587C673A2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Tipos</a:t>
            </a:r>
            <a:r>
              <a:rPr lang="en-US" b="1" dirty="0">
                <a:solidFill>
                  <a:srgbClr val="0070C0"/>
                </a:solidFill>
              </a:rPr>
              <a:t> de </a:t>
            </a:r>
            <a:r>
              <a:rPr lang="en-US" b="1" dirty="0" err="1">
                <a:solidFill>
                  <a:srgbClr val="0070C0"/>
                </a:solidFill>
              </a:rPr>
              <a:t>Recursos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CB76D30-E7E6-2779-A832-AFF0BED888CB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5050"/>
            <a:ext cx="8865056" cy="3994150"/>
          </a:xfrm>
        </p:spPr>
        <p:txBody>
          <a:bodyPr>
            <a:noAutofit/>
          </a:bodyPr>
          <a:lstStyle/>
          <a:p>
            <a:pPr lvl="0"/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Humanos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Equipes técnicas e gestores</a:t>
            </a:r>
          </a:p>
          <a:p>
            <a:pPr lvl="0"/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Tecnológicos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Hardware, software, redes</a:t>
            </a:r>
          </a:p>
          <a:p>
            <a:pPr marL="0" lvl="0" indent="0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Informacionais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Dados e conhecimento</a:t>
            </a:r>
          </a:p>
          <a:p>
            <a:pPr lvl="0"/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Financeiros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Investimentos e custos</a:t>
            </a:r>
          </a:p>
        </p:txBody>
      </p:sp>
    </p:spTree>
    <p:extLst>
      <p:ext uri="{BB962C8B-B14F-4D97-AF65-F5344CB8AC3E}">
        <p14:creationId xmlns:p14="http://schemas.microsoft.com/office/powerpoint/2010/main" val="118890978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A0192-7EAA-4D6C-7003-16F5E6D08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C1B4B98-A46F-A7B9-E698-ABED3C5DF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Cenário</a:t>
            </a:r>
            <a:r>
              <a:rPr lang="en-US" b="1" dirty="0">
                <a:solidFill>
                  <a:srgbClr val="0070C0"/>
                </a:solidFill>
              </a:rPr>
              <a:t> Contábil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DBC4178-EE60-74A6-D2C6-1B49017A6FED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5050"/>
            <a:ext cx="8865056" cy="3994150"/>
          </a:xfrm>
        </p:spPr>
        <p:txBody>
          <a:bodyPr>
            <a:noAutofit/>
          </a:bodyPr>
          <a:lstStyle/>
          <a:p>
            <a:pPr lvl="0"/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Exemplo real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Implantação de sistema contábil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Problema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Falta de integração de dados 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Solução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Alocação correta de recursos + tecnologia</a:t>
            </a:r>
          </a:p>
        </p:txBody>
      </p:sp>
    </p:spTree>
    <p:extLst>
      <p:ext uri="{BB962C8B-B14F-4D97-AF65-F5344CB8AC3E}">
        <p14:creationId xmlns:p14="http://schemas.microsoft.com/office/powerpoint/2010/main" val="150548520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67F09-EA24-E81B-3425-94AC57215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7D5AE8C-2175-20F1-6E46-B411352D2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Técnicas</a:t>
            </a:r>
            <a:r>
              <a:rPr lang="en-US" b="1" dirty="0">
                <a:solidFill>
                  <a:srgbClr val="0070C0"/>
                </a:solidFill>
              </a:rPr>
              <a:t> de Tomada de </a:t>
            </a:r>
            <a:r>
              <a:rPr lang="en-US" b="1" dirty="0" err="1">
                <a:solidFill>
                  <a:srgbClr val="0070C0"/>
                </a:solidFill>
              </a:rPr>
              <a:t>Decisão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E16B5C4-6E23-7223-A1B9-35AD2CD60113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5050"/>
            <a:ext cx="8865056" cy="3994150"/>
          </a:xfrm>
        </p:spPr>
        <p:txBody>
          <a:bodyPr>
            <a:noAutofit/>
          </a:bodyPr>
          <a:lstStyle/>
          <a:p>
            <a:pPr lvl="0"/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 de escolher a melhor alternativa</a:t>
            </a:r>
          </a:p>
          <a:p>
            <a:pPr marL="0" lvl="0" indent="0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Baseado em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Dados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Experiência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Métodos analíticos </a:t>
            </a:r>
          </a:p>
        </p:txBody>
      </p:sp>
    </p:spTree>
    <p:extLst>
      <p:ext uri="{BB962C8B-B14F-4D97-AF65-F5344CB8AC3E}">
        <p14:creationId xmlns:p14="http://schemas.microsoft.com/office/powerpoint/2010/main" val="97589264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81C52-C478-7762-3C27-43AF80D0C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FA32467-FB72-AD36-BCDF-125085FE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Principais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Técnicas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6FECF20-D190-B1D7-84D2-247DF3138CAB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5050"/>
            <a:ext cx="8865056" cy="3994150"/>
          </a:xfrm>
        </p:spPr>
        <p:txBody>
          <a:bodyPr>
            <a:noAutofit/>
          </a:bodyPr>
          <a:lstStyle/>
          <a:p>
            <a:pPr lvl="0"/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Análise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SWOT</a:t>
            </a:r>
          </a:p>
          <a:p>
            <a:pPr lvl="0"/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Matriz GUT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Gravidade, Urgência, Tendência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0"/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Análise de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Custo-Benefício</a:t>
            </a:r>
          </a:p>
          <a:p>
            <a:pPr lvl="0"/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7165796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F91F0-3FC8-629F-10C4-09AF3BF22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9F29CC7-2503-1F1B-9A6E-214EFD644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Cenário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1614BD1-EB52-5E05-F853-17C8AE69D43B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5050"/>
            <a:ext cx="8865056" cy="39941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Decisão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Migrar sistema local para nuvem</a:t>
            </a:r>
          </a:p>
          <a:p>
            <a:pPr marL="0" indent="0">
              <a:buNone/>
            </a:pPr>
            <a:endParaRPr lang="pt-B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Arial" panose="020B0604020202020204" pitchFamily="34" charset="0"/>
              <a:buChar char="•"/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lvl="0">
              <a:buFont typeface="Arial" panose="020B0604020202020204" pitchFamily="34" charset="0"/>
              <a:buChar char="•"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Arial" panose="020B0604020202020204" pitchFamily="34" charset="0"/>
              <a:buChar char="•"/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Escalabilidade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↑</a:t>
            </a:r>
          </a:p>
          <a:p>
            <a:pPr lvl="0">
              <a:buFont typeface="Arial" panose="020B0604020202020204" pitchFamily="34" charset="0"/>
              <a:buChar char="•"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Arial" panose="020B0604020202020204" pitchFamily="34" charset="0"/>
              <a:buChar char="•"/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Risco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segurança</a:t>
            </a:r>
          </a:p>
          <a:p>
            <a:pPr lvl="0">
              <a:buFont typeface="Arial" panose="020B0604020202020204" pitchFamily="34" charset="0"/>
              <a:buChar char="•"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Aplicação de análise custo-benefício</a:t>
            </a:r>
          </a:p>
        </p:txBody>
      </p:sp>
    </p:spTree>
    <p:extLst>
      <p:ext uri="{BB962C8B-B14F-4D97-AF65-F5344CB8AC3E}">
        <p14:creationId xmlns:p14="http://schemas.microsoft.com/office/powerpoint/2010/main" val="179166726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698C4-C6D1-329B-55AA-3BE3B2D3A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C63592D-9E78-ADCE-E6F7-D7B13DD8D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Implantação</a:t>
            </a:r>
            <a:r>
              <a:rPr lang="en-US" b="1" dirty="0">
                <a:solidFill>
                  <a:srgbClr val="0070C0"/>
                </a:solidFill>
              </a:rPr>
              <a:t> de Novas </a:t>
            </a:r>
            <a:r>
              <a:rPr lang="en-US" b="1" dirty="0" err="1">
                <a:solidFill>
                  <a:srgbClr val="0070C0"/>
                </a:solidFill>
              </a:rPr>
              <a:t>Tecnologias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AD27860-412F-8F11-0B06-5A0FDE746215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5050"/>
            <a:ext cx="8865056" cy="3994150"/>
          </a:xfrm>
        </p:spPr>
        <p:txBody>
          <a:bodyPr>
            <a:noAutofit/>
          </a:bodyPr>
          <a:lstStyle/>
          <a:p>
            <a:pPr lvl="0"/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 de introdução de novas soluções tecnológicas</a:t>
            </a:r>
          </a:p>
          <a:p>
            <a:pPr marL="0" lvl="0" indent="0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Envolve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Planejamento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Execução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Monitoramento</a:t>
            </a:r>
          </a:p>
        </p:txBody>
      </p:sp>
    </p:spTree>
    <p:extLst>
      <p:ext uri="{BB962C8B-B14F-4D97-AF65-F5344CB8AC3E}">
        <p14:creationId xmlns:p14="http://schemas.microsoft.com/office/powerpoint/2010/main" val="68830279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881D3-9CC1-C1FF-EF5B-794BD1A0A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A099D29-E0A5-EA7F-1BFE-992790B50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Etapas</a:t>
            </a:r>
            <a:r>
              <a:rPr lang="en-US" b="1" dirty="0">
                <a:solidFill>
                  <a:srgbClr val="0070C0"/>
                </a:solidFill>
              </a:rPr>
              <a:t> p/ Imp. Novas </a:t>
            </a:r>
            <a:r>
              <a:rPr lang="en-US" b="1" dirty="0" err="1">
                <a:solidFill>
                  <a:srgbClr val="0070C0"/>
                </a:solidFill>
              </a:rPr>
              <a:t>Tecnologias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8036FC1-D9CA-EFB6-0107-2EA8D1DFFB46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5050"/>
            <a:ext cx="8865056" cy="3994150"/>
          </a:xfrm>
        </p:spPr>
        <p:txBody>
          <a:bodyPr>
            <a:noAutofit/>
          </a:bodyPr>
          <a:lstStyle/>
          <a:p>
            <a:pPr lvl="0"/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Levantamento de requisitos</a:t>
            </a:r>
          </a:p>
          <a:p>
            <a:pPr lvl="0"/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Análise de viabilidade</a:t>
            </a:r>
          </a:p>
          <a:p>
            <a:pPr lvl="0"/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Implementação</a:t>
            </a:r>
          </a:p>
          <a:p>
            <a:pPr lvl="0"/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Treinamento</a:t>
            </a:r>
          </a:p>
          <a:p>
            <a:pPr lvl="0"/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Avaliação</a:t>
            </a:r>
          </a:p>
        </p:txBody>
      </p:sp>
    </p:spTree>
    <p:extLst>
      <p:ext uri="{BB962C8B-B14F-4D97-AF65-F5344CB8AC3E}">
        <p14:creationId xmlns:p14="http://schemas.microsoft.com/office/powerpoint/2010/main" val="308381445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9C49-D6A0-89D5-B251-A1EF3881D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44A818A-8C17-9F37-5D33-F00B76508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Desafios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191A89D-979E-4342-1E49-CADE931BAC2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5050"/>
            <a:ext cx="8865056" cy="3994150"/>
          </a:xfrm>
        </p:spPr>
        <p:txBody>
          <a:bodyPr>
            <a:noAutofit/>
          </a:bodyPr>
          <a:lstStyle/>
          <a:p>
            <a:pPr lvl="0"/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Resistência à mudança</a:t>
            </a:r>
          </a:p>
          <a:p>
            <a:pPr lvl="0"/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Custos</a:t>
            </a:r>
          </a:p>
          <a:p>
            <a:pPr lvl="0"/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Falta de capacitação</a:t>
            </a:r>
          </a:p>
          <a:p>
            <a:pPr lvl="0"/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Integração com sistemas existentes</a:t>
            </a:r>
          </a:p>
          <a:p>
            <a:pPr lvl="0"/>
            <a:endParaRPr lang="pt-B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Exemplo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Implantação de sistema fiscal</a:t>
            </a:r>
          </a:p>
        </p:txBody>
      </p:sp>
    </p:spTree>
    <p:extLst>
      <p:ext uri="{BB962C8B-B14F-4D97-AF65-F5344CB8AC3E}">
        <p14:creationId xmlns:p14="http://schemas.microsoft.com/office/powerpoint/2010/main" val="1548960505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7DDC0-3D0E-6EEE-604A-06EB88DC3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5F10176-60BF-9E99-EF81-B13DED128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Gestão</a:t>
            </a:r>
            <a:r>
              <a:rPr lang="en-US" b="1" dirty="0">
                <a:solidFill>
                  <a:srgbClr val="0070C0"/>
                </a:solidFill>
              </a:rPr>
              <a:t> de Dados e </a:t>
            </a:r>
            <a:r>
              <a:rPr lang="en-US" b="1" dirty="0" err="1">
                <a:solidFill>
                  <a:srgbClr val="0070C0"/>
                </a:solidFill>
              </a:rPr>
              <a:t>Informações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7700232-74EB-0400-D630-D35774371102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5050"/>
            <a:ext cx="8865056" cy="3994150"/>
          </a:xfrm>
        </p:spPr>
        <p:txBody>
          <a:bodyPr>
            <a:noAutofit/>
          </a:bodyPr>
          <a:lstStyle/>
          <a:p>
            <a:pPr lvl="0"/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Dados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fatos brutos</a:t>
            </a:r>
          </a:p>
          <a:p>
            <a:pPr lvl="0"/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Informação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dados processados</a:t>
            </a:r>
          </a:p>
          <a:p>
            <a:pPr lvl="0"/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Conhecimento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uso estratégico</a:t>
            </a:r>
          </a:p>
        </p:txBody>
      </p:sp>
    </p:spTree>
    <p:extLst>
      <p:ext uri="{BB962C8B-B14F-4D97-AF65-F5344CB8AC3E}">
        <p14:creationId xmlns:p14="http://schemas.microsoft.com/office/powerpoint/2010/main" val="1658870989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50CF1-C18A-BD31-97CA-969D974F3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CC3C4A-52D4-5E2F-E703-F48FDBB22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Importância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95F5FA6-0CD4-61BE-1707-1E6CA809D0C2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5050"/>
            <a:ext cx="8865056" cy="3994150"/>
          </a:xfrm>
        </p:spPr>
        <p:txBody>
          <a:bodyPr>
            <a:noAutofit/>
          </a:bodyPr>
          <a:lstStyle/>
          <a:p>
            <a:pPr lvl="0"/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Apoio à decisão</a:t>
            </a:r>
          </a:p>
          <a:p>
            <a:pPr lvl="0"/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Vantagem competitiva</a:t>
            </a:r>
          </a:p>
          <a:p>
            <a:pPr lvl="0"/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Conformidade legal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LGPD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0"/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289972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22AF9-FDFB-7AF1-DB2F-A673AAFBA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A3D0C16-3873-29CE-06D5-4D36AA2C6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Tecnologia</a:t>
            </a:r>
            <a:r>
              <a:rPr lang="en-US" b="1" dirty="0">
                <a:solidFill>
                  <a:srgbClr val="0070C0"/>
                </a:solidFill>
              </a:rPr>
              <a:t> - Tools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4283B64-865F-B7AC-EF60-0E269C6B110C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5050"/>
            <a:ext cx="8865056" cy="3994150"/>
          </a:xfrm>
        </p:spPr>
        <p:txBody>
          <a:bodyPr>
            <a:noAutofit/>
          </a:bodyPr>
          <a:lstStyle/>
          <a:p>
            <a:pPr lvl="0"/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Banco de dados (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SQL/</a:t>
            </a:r>
            <a:r>
              <a:rPr lang="pt-B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NoSQL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lvl="0" indent="0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Warehouse</a:t>
            </a:r>
          </a:p>
          <a:p>
            <a:pPr lvl="0"/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 (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BI, Tableau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ETL e dashboards interativos</a:t>
            </a:r>
          </a:p>
          <a:p>
            <a:pPr lvl="0"/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</a:t>
            </a:r>
          </a:p>
          <a:p>
            <a:pPr lvl="0"/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7530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2857A-EFFA-6271-8ADB-983F1365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CEA8295-3607-C0AF-17D7-9C65615B7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Exemplo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CFA66E9-EBDE-6D7F-446B-1A7E4572E41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5050"/>
            <a:ext cx="8865056" cy="39941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Empresa analisa dados de vendas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 produtos mais vendidos</a:t>
            </a:r>
          </a:p>
          <a:p>
            <a:pPr lvl="0"/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Ajusta estoque</a:t>
            </a:r>
          </a:p>
          <a:p>
            <a:pPr lvl="0"/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Aumenta lucro</a:t>
            </a:r>
          </a:p>
          <a:p>
            <a:pPr lvl="0"/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664856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6B9DA-4B98-ADB8-4B3A-F3B5DABE0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C140BB-5121-76A2-D4D5-E81B20887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Integração</a:t>
            </a:r>
            <a:r>
              <a:rPr lang="en-US" b="1" dirty="0">
                <a:solidFill>
                  <a:srgbClr val="0070C0"/>
                </a:solidFill>
              </a:rPr>
              <a:t> dos </a:t>
            </a:r>
            <a:r>
              <a:rPr lang="en-US" b="1" dirty="0" err="1">
                <a:solidFill>
                  <a:srgbClr val="0070C0"/>
                </a:solidFill>
              </a:rPr>
              <a:t>Componentes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3B21E3E-C358-DE5D-6EEA-08EAD45CDB4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5050"/>
            <a:ext cx="8865056" cy="3994150"/>
          </a:xfrm>
        </p:spPr>
        <p:txBody>
          <a:bodyPr>
            <a:noAutofit/>
          </a:bodyPr>
          <a:lstStyle/>
          <a:p>
            <a:pPr lvl="0"/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Recursos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viabilizam projetos</a:t>
            </a:r>
          </a:p>
          <a:p>
            <a:pPr marL="0" lvl="0" indent="0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Projetos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implementam tecnologia</a:t>
            </a:r>
          </a:p>
          <a:p>
            <a:pPr marL="0" lvl="0" indent="0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Dados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orientam decisões</a:t>
            </a:r>
          </a:p>
          <a:p>
            <a:pPr marL="0" lvl="0" indent="0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pt-B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Tudo conectado no ambiente organizacional</a:t>
            </a:r>
          </a:p>
        </p:txBody>
      </p:sp>
    </p:spTree>
    <p:extLst>
      <p:ext uri="{BB962C8B-B14F-4D97-AF65-F5344CB8AC3E}">
        <p14:creationId xmlns:p14="http://schemas.microsoft.com/office/powerpoint/2010/main" val="3855730802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Leitura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Específica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6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Introdução à Governança de Dados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https://www.ibm.com/br-pt/topics/data-governance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Transformação Digital – Conceitos e Aplicações (McKinsey &amp;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	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https://www.mckinsey.com/capabilities/mckinsey-digital/our-insights/what-is-digital-transformation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270425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Aprenda</a:t>
            </a:r>
            <a:r>
              <a:rPr lang="en-US" b="1" dirty="0">
                <a:solidFill>
                  <a:srgbClr val="0070C0"/>
                </a:solidFill>
              </a:rPr>
              <a:t>+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</a:t>
            </a:r>
            <a:r>
              <a:rPr lang="pt-BR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</a:t>
            </a: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(BI) Explicado de Forma Simples</a:t>
            </a:r>
          </a:p>
          <a:p>
            <a:pPr marL="0" indent="0" algn="just">
              <a:buNone/>
            </a:pP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https://youtu.be/NlnCPVizGrY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Transformação Digital: o que é e como funciona</a:t>
            </a:r>
          </a:p>
          <a:p>
            <a:pPr marL="0" indent="0" algn="just">
              <a:buNone/>
            </a:pP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https://www.youtube.com/watch?v=LLP0H89Gh-A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47596967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3AC7D-8CF9-A63F-57A2-D983DEB50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C4C3A19-ED0C-1CE0-1512-03DBBA8E6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Dinâmica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Atividades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45119E1-EF11-7248-2ADA-8776A0D7E7E3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5050"/>
            <a:ext cx="8865056" cy="399415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Estudo de Caso: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Uma empresa deseja implantar um novo sistema de gestão, tarefas: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Identificar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Demandas organizacionais e Recursos necessários</a:t>
            </a:r>
          </a:p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Aplicar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Técnica de decisão (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SWOT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Propor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	Plano de implantação</a:t>
            </a:r>
          </a:p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Indicar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	Como os dados serão utilizados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Entrega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apresentação em grupo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08 min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76682751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73FA7-546B-0D9D-2786-F0B457EAB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AAFCEE3-E1B1-DB7B-ECE3-5358BCC40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Conclusão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6F7B232-F106-2714-F086-5F6CFD960012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5050"/>
            <a:ext cx="8865056" cy="3994150"/>
          </a:xfrm>
        </p:spPr>
        <p:txBody>
          <a:bodyPr>
            <a:noAutofit/>
          </a:bodyPr>
          <a:lstStyle/>
          <a:p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Gestão eficiente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integração entre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Pessoas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Tecnologia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Dados</a:t>
            </a:r>
          </a:p>
          <a:p>
            <a:pPr marL="0" indent="0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Competência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essencial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mercado atual</a:t>
            </a:r>
          </a:p>
          <a:p>
            <a:pPr marL="0" indent="0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Perguntas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26388350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Referências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Bibliográficas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63230"/>
            <a:ext cx="8865056" cy="387428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LAUDON, Kenneth C.; LAUDON, Jane P.</a:t>
            </a: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Sistemas de Informação Gerenciais. 16. ed. São Paulo: Pearson, 2020.</a:t>
            </a:r>
          </a:p>
          <a:p>
            <a:pPr marL="0" indent="0" algn="just">
              <a:buNone/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TURBAN, Efraim et al.</a:t>
            </a: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Tecnologia da Informação para Gestão. 10. ed. Porto Alegre: Bookman, 2019.</a:t>
            </a:r>
          </a:p>
          <a:p>
            <a:pPr marL="0" indent="0" algn="just">
              <a:buNone/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DAVENPORT, Thomas H.</a:t>
            </a: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no Trabalho. Rio de Janeiro: Elsevier, 2014.</a:t>
            </a:r>
          </a:p>
          <a:p>
            <a:pPr marL="0" indent="0" algn="just">
              <a:buNone/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PRESSMAN, Roger S.</a:t>
            </a: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Engenharia de Software. 8. ed. Porto Alegre: AMGH, 2016.</a:t>
            </a:r>
          </a:p>
        </p:txBody>
      </p:sp>
    </p:spTree>
    <p:extLst>
      <p:ext uri="{BB962C8B-B14F-4D97-AF65-F5344CB8AC3E}">
        <p14:creationId xmlns:p14="http://schemas.microsoft.com/office/powerpoint/2010/main" val="1115311843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GESTÃO DE INFORMAÇÃO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>
                <a:solidFill>
                  <a:schemeClr val="bg1"/>
                </a:solidFill>
              </a:rPr>
              <a:t>M.Sc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  <p:pic>
        <p:nvPicPr>
          <p:cNvPr id="2" name="Google Shape;62;p1" descr="Imagem">
            <a:extLst>
              <a:ext uri="{FF2B5EF4-FFF2-40B4-BE49-F238E27FC236}">
                <a16:creationId xmlns:a16="http://schemas.microsoft.com/office/drawing/2014/main" id="{9C895622-2963-024D-634E-EA58F5381D0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9898" y="343798"/>
            <a:ext cx="2858518" cy="1338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4106</TotalTime>
  <Words>650</Words>
  <Application>Microsoft Office PowerPoint</Application>
  <PresentationFormat>Apresentação na tela (16:9)</PresentationFormat>
  <Paragraphs>191</Paragraphs>
  <Slides>24</Slides>
  <Notes>22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9" baseType="lpstr">
      <vt:lpstr>Arial</vt:lpstr>
      <vt:lpstr>Calibri</vt:lpstr>
      <vt:lpstr>Times New Roman</vt:lpstr>
      <vt:lpstr>Wingdings</vt:lpstr>
      <vt:lpstr>Office Theme</vt:lpstr>
      <vt:lpstr>GESTÃO DE INFORMAÇÃO</vt:lpstr>
      <vt:lpstr> Aula 01  A GESTÃO DE DADOS, RECURSOS E PROJETOS TECNOLÓGICOS</vt:lpstr>
      <vt:lpstr>Objetivo da Aula</vt:lpstr>
      <vt:lpstr>Contextualização</vt:lpstr>
      <vt:lpstr>Demandas e Recursos Organizacionais</vt:lpstr>
      <vt:lpstr>Tipos de Recursos</vt:lpstr>
      <vt:lpstr>Cenário Contábil</vt:lpstr>
      <vt:lpstr>Técnicas de Tomada de Decisão</vt:lpstr>
      <vt:lpstr>Principais Técnicas</vt:lpstr>
      <vt:lpstr>Cenário</vt:lpstr>
      <vt:lpstr>Implantação de Novas Tecnologias</vt:lpstr>
      <vt:lpstr>Etapas p/ Imp. Novas Tecnologias</vt:lpstr>
      <vt:lpstr>Desafios</vt:lpstr>
      <vt:lpstr>Gestão de Dados e Informações</vt:lpstr>
      <vt:lpstr>Importância</vt:lpstr>
      <vt:lpstr>Tecnologia - Tools</vt:lpstr>
      <vt:lpstr>Exemplo</vt:lpstr>
      <vt:lpstr>Integração dos Componentes</vt:lpstr>
      <vt:lpstr>Leitura Específica</vt:lpstr>
      <vt:lpstr>Aprenda+</vt:lpstr>
      <vt:lpstr>Dinâmica/Atividades</vt:lpstr>
      <vt:lpstr>Conclusão</vt:lpstr>
      <vt:lpstr>Referências Bibliográficas</vt:lpstr>
      <vt:lpstr>GESTÃO DE INFORMAÇÃO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Nome da Disciplina</dc:title>
  <dc:creator>JOAO CAIRO FERREIRA</dc:creator>
  <cp:lastModifiedBy>Heleno Cardoso</cp:lastModifiedBy>
  <cp:revision>1000</cp:revision>
  <dcterms:created xsi:type="dcterms:W3CDTF">2020-03-17T20:12:34Z</dcterms:created>
  <dcterms:modified xsi:type="dcterms:W3CDTF">2026-03-24T23:08:25Z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1033-11.1.0.9126</vt:lpwstr>
  </property>
</Properties>
</file>