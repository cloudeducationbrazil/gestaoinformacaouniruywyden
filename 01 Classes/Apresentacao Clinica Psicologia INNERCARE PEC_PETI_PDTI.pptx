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57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PROJETO FINAL – PEC / PETI / PDTI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Empresa: INNERCARE – </a:t>
            </a:r>
            <a:r>
              <a:rPr dirty="0" err="1"/>
              <a:t>Psicologia</a:t>
            </a:r>
            <a:r>
              <a:rPr dirty="0"/>
              <a:t> &amp; </a:t>
            </a:r>
            <a:r>
              <a:rPr dirty="0" err="1"/>
              <a:t>Saúde</a:t>
            </a:r>
            <a:r>
              <a:rPr dirty="0"/>
              <a:t> Mental</a:t>
            </a:r>
          </a:p>
          <a:p>
            <a:r>
              <a:rPr dirty="0" err="1"/>
              <a:t>Disciplina</a:t>
            </a:r>
            <a:r>
              <a:rPr dirty="0"/>
              <a:t>: </a:t>
            </a:r>
            <a:r>
              <a:rPr dirty="0" err="1"/>
              <a:t>Gestão</a:t>
            </a:r>
            <a:r>
              <a:rPr dirty="0"/>
              <a:t> da </a:t>
            </a:r>
            <a:r>
              <a:rPr dirty="0" err="1"/>
              <a:t>Informação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1. </a:t>
            </a:r>
            <a:r>
              <a:rPr dirty="0" err="1"/>
              <a:t>Contexto</a:t>
            </a:r>
            <a:r>
              <a:rPr dirty="0"/>
              <a:t> da Empresa (</a:t>
            </a:r>
            <a:r>
              <a:rPr dirty="0">
                <a:solidFill>
                  <a:srgbClr val="FF0000"/>
                </a:solidFill>
              </a:rPr>
              <a:t>INNERCARE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Clínica de </a:t>
            </a:r>
            <a:r>
              <a:rPr dirty="0" err="1"/>
              <a:t>Psicologia</a:t>
            </a:r>
            <a:r>
              <a:rPr dirty="0"/>
              <a:t> e </a:t>
            </a:r>
            <a:r>
              <a:rPr dirty="0" err="1"/>
              <a:t>Saúde</a:t>
            </a:r>
            <a:r>
              <a:rPr dirty="0"/>
              <a:t> Mental</a:t>
            </a:r>
          </a:p>
          <a:p>
            <a:pPr>
              <a:defRPr sz="2000"/>
            </a:pPr>
            <a:r>
              <a:rPr dirty="0" err="1"/>
              <a:t>Atuação</a:t>
            </a:r>
            <a:r>
              <a:rPr dirty="0"/>
              <a:t> </a:t>
            </a:r>
            <a:r>
              <a:rPr dirty="0" err="1"/>
              <a:t>híbrida</a:t>
            </a:r>
            <a:r>
              <a:rPr dirty="0"/>
              <a:t>: </a:t>
            </a:r>
            <a:r>
              <a:rPr dirty="0" err="1"/>
              <a:t>presencial</a:t>
            </a:r>
            <a:r>
              <a:rPr dirty="0"/>
              <a:t> e online</a:t>
            </a:r>
          </a:p>
          <a:p>
            <a:pPr>
              <a:defRPr sz="2000"/>
            </a:pPr>
            <a:r>
              <a:rPr dirty="0"/>
              <a:t>Serviços </a:t>
            </a:r>
            <a:r>
              <a:rPr dirty="0" err="1"/>
              <a:t>clínicos</a:t>
            </a:r>
            <a:r>
              <a:rPr dirty="0"/>
              <a:t> e </a:t>
            </a:r>
            <a:r>
              <a:rPr dirty="0" err="1"/>
              <a:t>corporativos</a:t>
            </a:r>
            <a:r>
              <a:rPr dirty="0"/>
              <a:t> (EAP)</a:t>
            </a:r>
          </a:p>
          <a:p>
            <a:pPr>
              <a:defRPr sz="2000"/>
            </a:pPr>
            <a:r>
              <a:rPr dirty="0"/>
              <a:t>Foco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atendimento</a:t>
            </a:r>
            <a:r>
              <a:rPr dirty="0"/>
              <a:t> </a:t>
            </a:r>
            <a:r>
              <a:rPr dirty="0" err="1"/>
              <a:t>humanizado</a:t>
            </a:r>
            <a:r>
              <a:rPr dirty="0"/>
              <a:t> e </a:t>
            </a:r>
            <a:r>
              <a:rPr dirty="0" err="1"/>
              <a:t>baseado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evidências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Missão, Visão e Valores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Missão: promover saúde mental com atendimento humanizado e acessível</a:t>
            </a:r>
          </a:p>
          <a:p>
            <a:pPr>
              <a:defRPr sz="2000"/>
            </a:pPr>
            <a:r>
              <a:t>Visão: ser referência regional até 2030 integrando tecnologia e dados</a:t>
            </a:r>
          </a:p>
          <a:p>
            <a:pPr>
              <a:defRPr sz="2000"/>
            </a:pPr>
            <a:r>
              <a:t>Valores: ética, sigilo, empatia, inovação, diversidade, segurança da informação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3. PEC – Objetivos Estratégicos Corporativos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Expandir atendimento híbrido</a:t>
            </a:r>
          </a:p>
          <a:p>
            <a:pPr>
              <a:defRPr sz="2000"/>
            </a:pPr>
            <a:r>
              <a:t>Aumentar retenção de pacientes em 20%</a:t>
            </a:r>
          </a:p>
          <a:p>
            <a:pPr>
              <a:defRPr sz="2000"/>
            </a:pPr>
            <a:r>
              <a:t>Criar modelo escalável de atendimento corporativo</a:t>
            </a:r>
          </a:p>
          <a:p>
            <a:pPr>
              <a:defRPr sz="2000"/>
            </a:pPr>
            <a:r>
              <a:t>Melhorar eficiência administrativa e financeira</a:t>
            </a:r>
          </a:p>
          <a:p>
            <a:pPr>
              <a:defRPr sz="2000"/>
            </a:pPr>
            <a:r>
              <a:t>Garantir conformidade LGPD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4. PEC – </a:t>
            </a:r>
            <a:r>
              <a:rPr dirty="0" err="1"/>
              <a:t>Indicadores</a:t>
            </a:r>
            <a:r>
              <a:rPr dirty="0"/>
              <a:t> </a:t>
            </a:r>
            <a:r>
              <a:rPr dirty="0" err="1"/>
              <a:t>Estratégicos</a:t>
            </a:r>
            <a:r>
              <a:rPr dirty="0"/>
              <a:t> (</a:t>
            </a:r>
            <a:r>
              <a:rPr dirty="0">
                <a:solidFill>
                  <a:srgbClr val="FF0000"/>
                </a:solidFill>
              </a:rPr>
              <a:t>KPIs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Taxa de retorno e retenção de pacientes</a:t>
            </a:r>
          </a:p>
          <a:p>
            <a:pPr>
              <a:defRPr sz="2000"/>
            </a:pPr>
            <a:r>
              <a:t>Tempo médio de agendamento</a:t>
            </a:r>
          </a:p>
          <a:p>
            <a:pPr>
              <a:defRPr sz="2000"/>
            </a:pPr>
            <a:r>
              <a:t>Taxa de ocupação da agenda</a:t>
            </a:r>
          </a:p>
          <a:p>
            <a:pPr>
              <a:defRPr sz="2000"/>
            </a:pPr>
            <a:r>
              <a:t>Receita recorrente mensal (MRR)</a:t>
            </a:r>
          </a:p>
          <a:p>
            <a:pPr>
              <a:defRPr sz="2000"/>
            </a:pPr>
            <a:r>
              <a:t>NPS (satisfação) e cancelamentos</a:t>
            </a:r>
          </a:p>
          <a:p>
            <a:pPr>
              <a:defRPr sz="2000"/>
            </a:pPr>
            <a:r>
              <a:t>Contratos corporativos fechados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Análise SWOT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Forças: equipe qualificada, boa reputação, atendimento híbrido</a:t>
            </a:r>
          </a:p>
          <a:p>
            <a:pPr>
              <a:defRPr sz="2000"/>
            </a:pPr>
            <a:r>
              <a:t>Fraquezas: processos manuais, falta de integração, baixa maturidade BI</a:t>
            </a:r>
          </a:p>
          <a:p>
            <a:pPr>
              <a:defRPr sz="2000"/>
            </a:pPr>
            <a:r>
              <a:t>Oportunidades: demanda crescente, parcerias corporativas, telepsicologia</a:t>
            </a:r>
          </a:p>
          <a:p>
            <a:pPr>
              <a:defRPr sz="2000"/>
            </a:pPr>
            <a:r>
              <a:t>Ameaças: concorrência digital, riscos LGPD, instabilidade econômica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6. </a:t>
            </a:r>
            <a:r>
              <a:rPr dirty="0" err="1"/>
              <a:t>Diagnóstico</a:t>
            </a:r>
            <a:r>
              <a:rPr dirty="0"/>
              <a:t> Tecnológico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Uso de WhatsApp, Google Agenda e Excel</a:t>
            </a:r>
          </a:p>
          <a:p>
            <a:pPr>
              <a:defRPr sz="2000"/>
            </a:pPr>
            <a:r>
              <a:t>Servidor local antigo e rede Wi-Fi simples</a:t>
            </a:r>
          </a:p>
          <a:p>
            <a:pPr>
              <a:defRPr sz="2000"/>
            </a:pPr>
            <a:r>
              <a:t>Ferramentas não integradas</a:t>
            </a:r>
          </a:p>
          <a:p>
            <a:pPr>
              <a:defRPr sz="2000"/>
            </a:pPr>
            <a:r>
              <a:t>Ausência de prontuário eletrônico centralizado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Principais Problemas de 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Risco de vazamento de dados sensíveis (LGPD)</a:t>
            </a:r>
          </a:p>
          <a:p>
            <a:pPr>
              <a:defRPr sz="2000"/>
            </a:pPr>
            <a:r>
              <a:t>Cadastros duplicados e inconsistentes</a:t>
            </a:r>
          </a:p>
          <a:p>
            <a:pPr>
              <a:defRPr sz="2000"/>
            </a:pPr>
            <a:r>
              <a:t>Relatórios inexistentes ou manuais</a:t>
            </a:r>
          </a:p>
          <a:p>
            <a:pPr>
              <a:defRPr sz="2000"/>
            </a:pPr>
            <a:r>
              <a:t>Backup e continuidade operacional frágeis</a:t>
            </a:r>
          </a:p>
          <a:p>
            <a:pPr>
              <a:defRPr sz="2000"/>
            </a:pPr>
            <a:r>
              <a:t>Falta de governança e padronização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8. Sistemas de </a:t>
            </a:r>
            <a:r>
              <a:rPr dirty="0" err="1"/>
              <a:t>Informação</a:t>
            </a:r>
            <a:r>
              <a:rPr dirty="0"/>
              <a:t> e Tomada de </a:t>
            </a:r>
            <a:r>
              <a:rPr dirty="0" err="1"/>
              <a:t>Decisão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Sistemas atuais: agenda, financeiro e marketing desconectados</a:t>
            </a:r>
          </a:p>
          <a:p>
            <a:pPr>
              <a:defRPr sz="2000"/>
            </a:pPr>
            <a:r>
              <a:t>Dados dispersos em planilhas e ferramentas externas</a:t>
            </a:r>
          </a:p>
          <a:p>
            <a:pPr>
              <a:defRPr sz="2000"/>
            </a:pPr>
            <a:r>
              <a:t>Decisões baseadas em percepção e pouca evidência</a:t>
            </a:r>
          </a:p>
          <a:p>
            <a:pPr>
              <a:defRPr sz="2000"/>
            </a:pPr>
            <a:r>
              <a:t>Dificuldade de rastrear produtividade e desempenho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9. Gaps Informacionais Identificados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Ausência de base única de dados</a:t>
            </a:r>
          </a:p>
          <a:p>
            <a:pPr>
              <a:defRPr sz="2000"/>
            </a:pPr>
            <a:r>
              <a:t>Baixa integração entre setores</a:t>
            </a:r>
          </a:p>
          <a:p>
            <a:pPr>
              <a:defRPr sz="2000"/>
            </a:pPr>
            <a:r>
              <a:t>Indicadores estratégicos inexistentes</a:t>
            </a:r>
          </a:p>
          <a:p>
            <a:pPr>
              <a:defRPr sz="2000"/>
            </a:pPr>
            <a:r>
              <a:t>Falhas de rastreabilidade e auditoria</a:t>
            </a:r>
          </a:p>
          <a:p>
            <a:pPr>
              <a:defRPr sz="2000"/>
            </a:pPr>
            <a:r>
              <a:t>Falta de governança de dados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10. BI e </a:t>
            </a:r>
            <a:r>
              <a:rPr dirty="0" err="1"/>
              <a:t>Inteligência</a:t>
            </a:r>
            <a:r>
              <a:rPr dirty="0"/>
              <a:t> </a:t>
            </a:r>
            <a:r>
              <a:rPr dirty="0" err="1"/>
              <a:t>Organizacional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Necessidade de dashboards e relatórios automatizados</a:t>
            </a:r>
          </a:p>
          <a:p>
            <a:pPr>
              <a:defRPr sz="2000"/>
            </a:pPr>
            <a:r>
              <a:t>Centralização em Data Warehouse leve</a:t>
            </a:r>
          </a:p>
          <a:p>
            <a:pPr>
              <a:defRPr sz="2000"/>
            </a:pPr>
            <a:r>
              <a:t>Ferramentas recomendadas: Power BI / Looker Studio / Metabase</a:t>
            </a:r>
          </a:p>
          <a:p>
            <a:pPr>
              <a:defRPr sz="2000"/>
            </a:pPr>
            <a:r>
              <a:t>Controle de acesso e perfis gerenciais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11. KPIs </a:t>
            </a:r>
            <a:r>
              <a:rPr dirty="0" err="1"/>
              <a:t>Propostos</a:t>
            </a:r>
            <a:r>
              <a:rPr dirty="0"/>
              <a:t> (</a:t>
            </a:r>
            <a:r>
              <a:rPr dirty="0">
                <a:solidFill>
                  <a:srgbClr val="FF0000"/>
                </a:solidFill>
              </a:rPr>
              <a:t>BI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Clínicos: permanência em terapia, faltas/cancelamentos</a:t>
            </a:r>
          </a:p>
          <a:p>
            <a:pPr>
              <a:defRPr sz="2000"/>
            </a:pPr>
            <a:r>
              <a:t>Administrativos: ocupação de agenda, produtividade por psicólogo</a:t>
            </a:r>
          </a:p>
          <a:p>
            <a:pPr>
              <a:defRPr sz="2000"/>
            </a:pPr>
            <a:r>
              <a:t>Financeiros: inadimplência, ticket médio, receita por canal</a:t>
            </a:r>
          </a:p>
          <a:p>
            <a:pPr>
              <a:defRPr sz="2000"/>
            </a:pPr>
            <a:r>
              <a:t>Marketing: CPL, conversão e ROI</a:t>
            </a:r>
          </a:p>
          <a:p>
            <a:pPr>
              <a:defRPr sz="2000"/>
            </a:pPr>
            <a:r>
              <a:t>Corporativo: contratos e satisfação do RH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12. PETI – Objetivos Estratégicos de 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Implantar sistema integrado (agenda + prontuário + financeiro)</a:t>
            </a:r>
          </a:p>
          <a:p>
            <a:pPr>
              <a:defRPr sz="2000"/>
            </a:pPr>
            <a:r>
              <a:t>Implantar governança de TI e segurança (LGPD)</a:t>
            </a:r>
          </a:p>
          <a:p>
            <a:pPr>
              <a:defRPr sz="2000"/>
            </a:pPr>
            <a:r>
              <a:t>Criar cultura orientada a dados (BI)</a:t>
            </a:r>
          </a:p>
          <a:p>
            <a:pPr>
              <a:defRPr sz="2000"/>
            </a:pPr>
            <a:r>
              <a:t>Migrar infraestrutura para nuvem</a:t>
            </a:r>
          </a:p>
          <a:p>
            <a:pPr>
              <a:defRPr sz="2000"/>
            </a:pPr>
            <a:r>
              <a:t>Garantir continuidade operacional (backup e contingência)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13. </a:t>
            </a:r>
            <a:r>
              <a:rPr dirty="0" err="1"/>
              <a:t>Governança</a:t>
            </a:r>
            <a:r>
              <a:rPr dirty="0"/>
              <a:t> de 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Modelo simplificado baseado em COBIT e ITIL</a:t>
            </a:r>
          </a:p>
          <a:p>
            <a:pPr>
              <a:defRPr sz="2000"/>
            </a:pPr>
            <a:r>
              <a:t>Comitê Estratégico (Diretoria + Clínica + Financeiro + TI)</a:t>
            </a:r>
          </a:p>
          <a:p>
            <a:pPr>
              <a:defRPr sz="2000"/>
            </a:pPr>
            <a:r>
              <a:t>Políticas: acesso, backup, incidentes, mudanças e LGPD</a:t>
            </a:r>
          </a:p>
          <a:p>
            <a:pPr>
              <a:defRPr sz="2000"/>
            </a:pPr>
            <a:r>
              <a:t>Papéis claros (RACI) e auditoria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PDTI – Portfólio de Projetos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Projeto 1: Sistema integrado clínico (ERP/CRM)</a:t>
            </a:r>
          </a:p>
          <a:p>
            <a:pPr>
              <a:defRPr sz="2000"/>
            </a:pPr>
            <a:r>
              <a:t>Projeto 2: Segurança da Informação e LGPD</a:t>
            </a:r>
          </a:p>
          <a:p>
            <a:pPr>
              <a:defRPr sz="2000"/>
            </a:pPr>
            <a:r>
              <a:t>Projeto 3: BI e dashboards estratégicos</a:t>
            </a:r>
          </a:p>
          <a:p>
            <a:pPr>
              <a:defRPr sz="2000"/>
            </a:pPr>
            <a:r>
              <a:t>Projeto 4: CRM e automação de atendimento</a:t>
            </a:r>
          </a:p>
          <a:p>
            <a:pPr>
              <a:defRPr sz="2000"/>
            </a:pPr>
            <a:r>
              <a:t>Projeto 5: Portal corporativo para RH</a:t>
            </a:r>
          </a:p>
          <a:p>
            <a:pPr>
              <a:defRPr sz="2000"/>
            </a:pPr>
            <a:r>
              <a:t>Projeto 6: Migração e modernização em nuvem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15. </a:t>
            </a:r>
            <a:r>
              <a:rPr dirty="0" err="1"/>
              <a:t>Cronograma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0–6 meses: sistema clínico + LGPD básica + treinamento</a:t>
            </a:r>
          </a:p>
          <a:p>
            <a:pPr>
              <a:defRPr sz="2000"/>
            </a:pPr>
            <a:r>
              <a:t>6–12 meses: BI + automação CRM + padronização</a:t>
            </a:r>
          </a:p>
          <a:p>
            <a:pPr>
              <a:defRPr sz="2000"/>
            </a:pPr>
            <a:r>
              <a:t>12–24 meses: portal corporativo + analytics avançado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16. </a:t>
            </a:r>
            <a:r>
              <a:rPr dirty="0" err="1"/>
              <a:t>Estimativa</a:t>
            </a:r>
            <a:r>
              <a:rPr dirty="0"/>
              <a:t> de Investimentos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Sistema clínico SaaS: R$ 9.600 a R$ 24.000/ano</a:t>
            </a:r>
          </a:p>
          <a:p>
            <a:pPr>
              <a:defRPr sz="2000"/>
            </a:pPr>
            <a:r>
              <a:t>Segurança e backup: R$ 4.800 a R$ 10.800/ano</a:t>
            </a:r>
          </a:p>
          <a:p>
            <a:pPr>
              <a:defRPr sz="2000"/>
            </a:pPr>
            <a:r>
              <a:t>BI: R$ 3.600 a R$ 14.400/ano</a:t>
            </a:r>
          </a:p>
          <a:p>
            <a:pPr>
              <a:defRPr sz="2000"/>
            </a:pPr>
            <a:r>
              <a:t>Consultoria LGPD: R$ 8.000 a R$ 25.000</a:t>
            </a:r>
          </a:p>
          <a:p>
            <a:pPr>
              <a:defRPr sz="2000"/>
            </a:pPr>
            <a:r>
              <a:t>Infraestrutura nuvem: R$ 3.600 a R$ 12.000/ano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17. </a:t>
            </a:r>
            <a:r>
              <a:rPr dirty="0" err="1"/>
              <a:t>Terceirização</a:t>
            </a:r>
            <a:r>
              <a:rPr dirty="0"/>
              <a:t> </a:t>
            </a:r>
            <a:r>
              <a:t>de TI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Terceirizar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suporte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infraestrutura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segurança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BI e LGPD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Manter </a:t>
            </a:r>
            <a:r>
              <a:rPr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interno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gestão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estratégica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requisitos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indicadores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híbrido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recomendado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eficiência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INNERCARE tem potencial de expansão e diferenciação</a:t>
            </a:r>
          </a:p>
          <a:p>
            <a:pPr>
              <a:defRPr sz="2000"/>
            </a:pPr>
            <a:r>
              <a:t>TI deve ser base para crescimento seguro e escalável</a:t>
            </a:r>
          </a:p>
          <a:p>
            <a:pPr>
              <a:defRPr sz="2000"/>
            </a:pPr>
            <a:r>
              <a:t>BI e governança garantem decisões orientadas a dados</a:t>
            </a:r>
          </a:p>
          <a:p>
            <a:pPr>
              <a:defRPr sz="2000"/>
            </a:pPr>
            <a:r>
              <a:t>PDTI organiza investimentos e execução de projetos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Encerramento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 err="1"/>
              <a:t>Projeto</a:t>
            </a:r>
            <a:r>
              <a:rPr dirty="0"/>
              <a:t> PEC / PETI / PDTI – INNERCARE</a:t>
            </a:r>
          </a:p>
          <a:p>
            <a:pPr>
              <a:defRPr sz="2000"/>
            </a:pPr>
            <a:r>
              <a:rPr dirty="0" err="1"/>
              <a:t>Gestão</a:t>
            </a:r>
            <a:r>
              <a:rPr dirty="0"/>
              <a:t> da </a:t>
            </a:r>
            <a:r>
              <a:rPr dirty="0" err="1"/>
              <a:t>Informação</a:t>
            </a:r>
            <a:r>
              <a:rPr dirty="0"/>
              <a:t> e </a:t>
            </a:r>
            <a:r>
              <a:rPr dirty="0" err="1"/>
              <a:t>Governança</a:t>
            </a:r>
            <a:r>
              <a:rPr dirty="0"/>
              <a:t> de TI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C2B9F-3131-CDE4-4CB1-4DF7C1D20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DB5F2-F052-A6B2-AA12-90C76340A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endParaRPr lang="pt-BR" sz="4800" dirty="0"/>
          </a:p>
          <a:p>
            <a:pPr marL="0" indent="0" algn="ctr">
              <a:buNone/>
              <a:defRPr sz="2000"/>
            </a:pPr>
            <a:r>
              <a:rPr sz="4800" dirty="0" err="1"/>
              <a:t>Obrigado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0620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747</Words>
  <Application>Microsoft Office PowerPoint</Application>
  <PresentationFormat>Apresentação na tela (4:3)</PresentationFormat>
  <Paragraphs>107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PROJETO FINAL – PEC / PETI / PDTI</vt:lpstr>
      <vt:lpstr>1. Contexto da Empresa (INNERCARE)</vt:lpstr>
      <vt:lpstr>2. Missão, Visão e Valores</vt:lpstr>
      <vt:lpstr>3. PEC – Objetivos Estratégicos Corporativos</vt:lpstr>
      <vt:lpstr>4. PEC – Indicadores Estratégicos (KPIs)</vt:lpstr>
      <vt:lpstr>5. Análise SWOT</vt:lpstr>
      <vt:lpstr>6. Diagnóstico Tecnológico</vt:lpstr>
      <vt:lpstr>7. Principais Problemas de TI</vt:lpstr>
      <vt:lpstr>8. Sistemas de Informação e Tomada de Decisão</vt:lpstr>
      <vt:lpstr>9. Gaps Informacionais Identificados</vt:lpstr>
      <vt:lpstr>10. BI e Inteligência Organizacional</vt:lpstr>
      <vt:lpstr>11. KPIs Propostos (BI)</vt:lpstr>
      <vt:lpstr>12. PETI – Objetivos Estratégicos de TI</vt:lpstr>
      <vt:lpstr>13. Governança de TI</vt:lpstr>
      <vt:lpstr>14. PDTI – Portfólio de Projetos</vt:lpstr>
      <vt:lpstr>15. Cronograma</vt:lpstr>
      <vt:lpstr>16. Estimativa de Investimentos</vt:lpstr>
      <vt:lpstr>17. Terceirização de TI</vt:lpstr>
      <vt:lpstr>18. Conclusão</vt:lpstr>
      <vt:lpstr>19. Encerramento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Heleno Cardoso</cp:lastModifiedBy>
  <cp:revision>4</cp:revision>
  <dcterms:created xsi:type="dcterms:W3CDTF">2013-01-27T09:14:16Z</dcterms:created>
  <dcterms:modified xsi:type="dcterms:W3CDTF">2026-04-29T21:45:14Z</dcterms:modified>
  <cp:category/>
</cp:coreProperties>
</file>