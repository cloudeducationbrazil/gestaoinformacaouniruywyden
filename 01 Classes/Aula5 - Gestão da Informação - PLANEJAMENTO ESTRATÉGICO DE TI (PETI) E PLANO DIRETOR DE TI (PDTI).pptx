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91" r:id="rId3"/>
    <p:sldId id="331" r:id="rId4"/>
    <p:sldId id="361" r:id="rId5"/>
    <p:sldId id="362" r:id="rId6"/>
    <p:sldId id="363" r:id="rId7"/>
    <p:sldId id="364" r:id="rId8"/>
    <p:sldId id="365" r:id="rId9"/>
    <p:sldId id="366" r:id="rId10"/>
    <p:sldId id="333" r:id="rId11"/>
    <p:sldId id="323" r:id="rId12"/>
    <p:sldId id="367" r:id="rId13"/>
    <p:sldId id="360" r:id="rId14"/>
    <p:sldId id="368" r:id="rId15"/>
    <p:sldId id="337" r:id="rId16"/>
    <p:sldId id="309" r:id="rId17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Ênfas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Estilo Claro 2 - Ênfas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1" d="100"/>
          <a:sy n="71" d="100"/>
        </p:scale>
        <p:origin x="678" y="60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7397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357535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7DDE2-C427-18C5-9C25-7601AACC2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A602F4-213D-826B-719D-86896D40E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761F60-89B9-BD15-8F28-186979992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7984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98896-C8B6-0702-A965-141BB1D2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13B9D16-4CB7-DB52-44C0-FA7849497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852ACD-15E6-C1C8-C68F-92C093282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1598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72F6F-8F22-1D42-EA8E-DC0B7ADA0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E4D10A-8195-3317-7014-98825659B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885453-CD53-2DC7-64F9-06227F880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148498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0D4D5-F7DA-0EC9-6223-3383F8F82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AFFBF7-B9D6-0DDD-4603-9F117201E5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4E22A23-1C4B-D3EF-394B-9BE6151B5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490040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8D16-2319-D101-3E61-885391FE4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21AA65E-7DFF-A9F3-3480-B8D6BA99E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DF6C48-03DB-A0DF-0721-7C1E12781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1013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285E4-7F67-AEC1-121C-7C475B2A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E4A37FF-0862-014D-5A95-710D7078A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C71171C-5E2A-8DBB-251B-58146385D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98238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5AE9-8C24-6EF0-D024-555514478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BFFBCB-0F2E-E312-4525-B4AD5CCA4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2C515F-738E-EE61-76D7-7B7FE8E42A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219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63E5B-C292-859D-FB83-976D9C6E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E4371D-BD8E-838C-430B-89FECE90D3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01DF927-0375-C257-C3B6-37010EA38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6069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B59BF-1418-F77E-BDBD-E14983B3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CB831D5-23A3-86B4-3B13-C400B060A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4C113B7-D398-A4FB-9AC2-76E8C8F35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92776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457203" y="204787"/>
            <a:ext cx="3008315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73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3575052" y="204789"/>
            <a:ext cx="5111749" cy="438983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13"/>
          </p:nvPr>
        </p:nvSpPr>
        <p:spPr>
          <a:xfrm>
            <a:off x="457198" y="1076326"/>
            <a:ext cx="3008316" cy="3518297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bibliotecadigital.fgv.br/dspace/handle/10438/14631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gov.br/governodigital/pt-br/sisp/documentos/guia-pdti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7vVQ0c2sQ3A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youtube.com/watch?v=F0wzRj4pJkE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v.br/governodigita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GESTÃO DE INFORMAÇÃO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D9A56D89-1300-762A-5BD5-16B3C4E998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sz="3200" b="1" dirty="0">
                <a:solidFill>
                  <a:schemeClr val="bg1"/>
                </a:solidFill>
              </a:rPr>
            </a:br>
            <a:r>
              <a:rPr lang="pt-BR" sz="3200" b="1" dirty="0">
                <a:solidFill>
                  <a:schemeClr val="bg1"/>
                </a:solidFill>
              </a:rPr>
              <a:t>Aula 05</a:t>
            </a:r>
            <a:br>
              <a:rPr lang="pt-BR" sz="3200" b="1" dirty="0">
                <a:solidFill>
                  <a:schemeClr val="bg1"/>
                </a:solidFill>
              </a:rPr>
            </a:br>
            <a:r>
              <a:rPr lang="pt-BR" sz="3200" b="1" dirty="0">
                <a:solidFill>
                  <a:schemeClr val="bg1"/>
                </a:solidFill>
              </a:rPr>
              <a:t>	PLANEJAM. ESTRATÉGICO DE TI (PETI) E (PDTI)</a:t>
            </a:r>
            <a:br>
              <a:rPr lang="pt-BR" sz="3200" b="1" dirty="0">
                <a:solidFill>
                  <a:schemeClr val="bg1"/>
                </a:solidFill>
              </a:rPr>
            </a:br>
            <a:endParaRPr lang="pt-BR" sz="3200" b="1" dirty="0">
              <a:solidFill>
                <a:schemeClr val="bg1"/>
              </a:solidFill>
            </a:endParaRP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4" name="Google Shape;62;p1" descr="Imagem">
            <a:extLst>
              <a:ext uri="{FF2B5EF4-FFF2-40B4-BE49-F238E27FC236}">
                <a16:creationId xmlns:a16="http://schemas.microsoft.com/office/drawing/2014/main" id="{652F850C-6AD9-5CD4-839F-152858F1361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Objetivo</a:t>
            </a:r>
            <a:r>
              <a:rPr lang="en-US" b="1" dirty="0">
                <a:solidFill>
                  <a:srgbClr val="0070C0"/>
                </a:solidFill>
              </a:rPr>
              <a:t> da Aula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Compreender os conceitos de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PDTI</a:t>
            </a:r>
          </a:p>
          <a:p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Relacionar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estratégia organizacional</a:t>
            </a:r>
          </a:p>
          <a:p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Entender o papel da terceirização de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</a:p>
          <a:p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Aplicar conceitos em situações reais organizacionais</a:t>
            </a:r>
          </a:p>
        </p:txBody>
      </p:sp>
    </p:spTree>
    <p:extLst>
      <p:ext uri="{BB962C8B-B14F-4D97-AF65-F5344CB8AC3E}">
        <p14:creationId xmlns:p14="http://schemas.microsoft.com/office/powerpoint/2010/main" val="1362980025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F0B19-A930-A9A9-1992-610CC5154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F55746-1533-7FC6-53B7-77030615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Conceito</a:t>
            </a:r>
            <a:r>
              <a:rPr lang="en-US" b="1" dirty="0">
                <a:solidFill>
                  <a:srgbClr val="0070C0"/>
                </a:solidFill>
              </a:rPr>
              <a:t> PETI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52BCFB7-D78F-12FB-2A3E-1B45307BEC22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Planejamento Estratégico de Tecnologia da Informação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Alinha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aos objetivos estratégicos da empresa</a:t>
            </a:r>
          </a:p>
          <a:p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Define como a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gera valor ao negócio</a:t>
            </a:r>
          </a:p>
          <a:p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Horizonte de médio e longo prazo</a:t>
            </a:r>
          </a:p>
          <a:p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prática</a:t>
            </a: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Empresas usam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decidir investimentos em sistemas, inovação e segurança.</a:t>
            </a:r>
          </a:p>
        </p:txBody>
      </p:sp>
    </p:spTree>
    <p:extLst>
      <p:ext uri="{BB962C8B-B14F-4D97-AF65-F5344CB8AC3E}">
        <p14:creationId xmlns:p14="http://schemas.microsoft.com/office/powerpoint/2010/main" val="1805046134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53838-6F41-947D-FE92-679E69460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1BBC818-E03C-D0AE-ED32-10662F3B5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PEC vs PETI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EED0474-FCC6-A281-73F4-D2450920F5C5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PEC (Planejamento Estratégico Corporativo)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missão, visão e objetivos organizacionais</a:t>
            </a:r>
          </a:p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endParaRPr lang="pt-BR" sz="1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Traduz o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PEC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o contexto da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Relação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suporte tecnológico para execução do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PEC</a:t>
            </a:r>
          </a:p>
          <a:p>
            <a:pPr marL="0" indent="0">
              <a:buNone/>
            </a:pPr>
            <a:endParaRPr lang="pt-BR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Exemplo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PEC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expandir mercado;</a:t>
            </a:r>
          </a:p>
          <a:p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implementar e-commerce,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CRM.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41223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CBC75-3E39-326A-1491-4BFC828AA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7796F6A-B965-BD9E-03D6-1DF5CE313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Conceito</a:t>
            </a:r>
            <a:r>
              <a:rPr lang="en-US" b="1" dirty="0">
                <a:solidFill>
                  <a:srgbClr val="0070C0"/>
                </a:solidFill>
              </a:rPr>
              <a:t> PDTI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C40F0B1-17AD-35FB-4861-D4BF75B02F49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Plano Diretor de Tecnologia da Informação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PDTI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Documento tático-operacional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ações, projetos e recursos de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Inclui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Inventário de sistemas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Plano de investimentos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Cronograma de execução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Indicadores de desempenho</a:t>
            </a:r>
          </a:p>
        </p:txBody>
      </p:sp>
    </p:spTree>
    <p:extLst>
      <p:ext uri="{BB962C8B-B14F-4D97-AF65-F5344CB8AC3E}">
        <p14:creationId xmlns:p14="http://schemas.microsoft.com/office/powerpoint/2010/main" val="125475832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616AF-9CB7-D1A9-CC19-537CF199C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A35C7AF-6D68-5FAA-F1E6-439F50AE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PETI vs PDTI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69BB4B5-4288-AFD0-E125-E98442D4D497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27B880CD-01C5-D081-23C5-1199A0F3C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965694"/>
              </p:ext>
            </p:extLst>
          </p:nvPr>
        </p:nvGraphicFramePr>
        <p:xfrm>
          <a:off x="196654" y="1671842"/>
          <a:ext cx="8705301" cy="2804160"/>
        </p:xfrm>
        <a:graphic>
          <a:graphicData uri="http://schemas.openxmlformats.org/drawingml/2006/table">
            <a:tbl>
              <a:tblPr/>
              <a:tblGrid>
                <a:gridCol w="2901767">
                  <a:extLst>
                    <a:ext uri="{9D8B030D-6E8A-4147-A177-3AD203B41FA5}">
                      <a16:colId xmlns:a16="http://schemas.microsoft.com/office/drawing/2014/main" val="1763318122"/>
                    </a:ext>
                  </a:extLst>
                </a:gridCol>
                <a:gridCol w="2901767">
                  <a:extLst>
                    <a:ext uri="{9D8B030D-6E8A-4147-A177-3AD203B41FA5}">
                      <a16:colId xmlns:a16="http://schemas.microsoft.com/office/drawing/2014/main" val="224682341"/>
                    </a:ext>
                  </a:extLst>
                </a:gridCol>
                <a:gridCol w="2901767">
                  <a:extLst>
                    <a:ext uri="{9D8B030D-6E8A-4147-A177-3AD203B41FA5}">
                      <a16:colId xmlns:a16="http://schemas.microsoft.com/office/drawing/2014/main" val="3888882925"/>
                    </a:ext>
                  </a:extLst>
                </a:gridCol>
              </a:tblGrid>
              <a:tr h="4245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u="sng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u="sng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PDTI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0335364"/>
                  </a:ext>
                </a:extLst>
              </a:tr>
              <a:tr h="4245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Nível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Estratégico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Tático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525542"/>
                  </a:ext>
                </a:extLst>
              </a:tr>
              <a:tr h="75814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Alinhamento com negócio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Execução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102228"/>
                  </a:ext>
                </a:extLst>
              </a:tr>
              <a:tr h="4245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Horizonte</a:t>
                      </a:r>
                    </a:p>
                    <a:p>
                      <a:pPr algn="l">
                        <a:buNone/>
                      </a:pPr>
                      <a:endParaRPr lang="pt-BR" sz="2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Longo prazo</a:t>
                      </a:r>
                    </a:p>
                    <a:p>
                      <a:pPr algn="l">
                        <a:buNone/>
                      </a:pPr>
                      <a:endParaRPr lang="pt-BR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Médio prazo</a:t>
                      </a:r>
                    </a:p>
                    <a:p>
                      <a:pPr algn="l">
                        <a:buNone/>
                      </a:pPr>
                      <a:endParaRPr lang="pt-BR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727872"/>
                  </a:ext>
                </a:extLst>
              </a:tr>
              <a:tr h="42456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Resultado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Diretrizes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Plano de ação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3864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032940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CEE00-3589-4119-5178-5A875CA54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F5A569B-EE1C-1290-5CF8-4B7E7B1BC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Terceirização</a:t>
            </a:r>
            <a:r>
              <a:rPr lang="en-US" b="1" dirty="0">
                <a:solidFill>
                  <a:srgbClr val="0070C0"/>
                </a:solidFill>
              </a:rPr>
              <a:t> de TI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77B2640-5A32-798C-7C16-AC3D85DDA78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Outsourcing de TI</a:t>
            </a: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Transferência de serviços de </a:t>
            </a: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terceiros</a:t>
            </a:r>
          </a:p>
          <a:p>
            <a:pPr marL="0" indent="0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Exemplos</a:t>
            </a: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Suporte técnico</a:t>
            </a: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Desenvolvimento de software</a:t>
            </a: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Infraestrutura em nuvem</a:t>
            </a:r>
          </a:p>
        </p:txBody>
      </p:sp>
    </p:spTree>
    <p:extLst>
      <p:ext uri="{BB962C8B-B14F-4D97-AF65-F5344CB8AC3E}">
        <p14:creationId xmlns:p14="http://schemas.microsoft.com/office/powerpoint/2010/main" val="231899921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E2E7-0A8D-6676-80D0-0B0589FF8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7DE7D2F-C89D-6E78-5241-BFAD42959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Vantagens</a:t>
            </a:r>
            <a:r>
              <a:rPr lang="en-US" b="1" dirty="0">
                <a:solidFill>
                  <a:srgbClr val="0070C0"/>
                </a:solidFill>
              </a:rPr>
              <a:t> e </a:t>
            </a:r>
            <a:r>
              <a:rPr lang="en-US" b="1" dirty="0" err="1">
                <a:solidFill>
                  <a:srgbClr val="0070C0"/>
                </a:solidFill>
              </a:rPr>
              <a:t>Riscos</a:t>
            </a:r>
            <a:r>
              <a:rPr lang="en-US" b="1" dirty="0">
                <a:solidFill>
                  <a:srgbClr val="0070C0"/>
                </a:solidFill>
              </a:rPr>
              <a:t> da TI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E7D7139-DF22-6E87-057D-01A7AC61109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914026"/>
            <a:ext cx="8865056" cy="420257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Vantagens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Redução de custos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Acesso a especialistas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Foco no core business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Riscos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Dependência de fornecedores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Problemas de segurança</a:t>
            </a:r>
          </a:p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Perda de controle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prática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Uso de cloud (AWS, Azure, GCC, etc.).</a:t>
            </a:r>
          </a:p>
        </p:txBody>
      </p:sp>
    </p:spTree>
    <p:extLst>
      <p:ext uri="{BB962C8B-B14F-4D97-AF65-F5344CB8AC3E}">
        <p14:creationId xmlns:p14="http://schemas.microsoft.com/office/powerpoint/2010/main" val="375290764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Planejamento Estratégico de TI – Guia Prático (FGV)</a:t>
            </a:r>
          </a:p>
          <a:p>
            <a:pPr marL="0" indent="0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https://bibliotecadigital.fgv.br/dspace/handle/10438/14631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Guia PDTI – Governo Federal (SISP)</a:t>
            </a:r>
          </a:p>
          <a:p>
            <a:pPr marL="0" indent="0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https://www.gov.br/governodigital/pt-br/sisp/documentos/guia-pdti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0"/>
            <a:ext cx="8865056" cy="373737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Planejamento Estratégico de TI (explicação clara)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https://www.youtube.com/watch?v=7vVQ0c2sQ3A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que é PDTI e Governança de TI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Disponível em: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https://www.youtube.com/watch?v=F0wzRj4pJkE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74BAE-D367-2F50-EDE8-171BC247D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176EC2-3405-C858-95B8-B0C648FA5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Estudo</a:t>
            </a:r>
            <a:r>
              <a:rPr lang="en-US" b="1" dirty="0">
                <a:solidFill>
                  <a:srgbClr val="0070C0"/>
                </a:solidFill>
              </a:rPr>
              <a:t> de Caso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9D93FB2-4945-1BB7-94FD-0914D75EFB0C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Empresa deseja crescer e digitalizar processos</a:t>
            </a:r>
          </a:p>
          <a:p>
            <a:pPr marL="0" indent="0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Perguntas</a:t>
            </a: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 seria o papel do </a:t>
            </a: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Quais ações entrariam no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que poderia ser terceirizado?</a:t>
            </a:r>
          </a:p>
        </p:txBody>
      </p:sp>
    </p:spTree>
    <p:extLst>
      <p:ext uri="{BB962C8B-B14F-4D97-AF65-F5344CB8AC3E}">
        <p14:creationId xmlns:p14="http://schemas.microsoft.com/office/powerpoint/2010/main" val="214456651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AC7D-8CF9-A63F-57A2-D983DEB50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C4C3A19-ED0C-1CE0-1512-03DBBA8E6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45119E1-EF11-7248-2ADA-8776A0D7E7E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Escolher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uma empresa (real ou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fictícia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Objetivo estratégico (</a:t>
            </a:r>
            <a:r>
              <a:rPr lang="pt-BR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PEC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iniciativas de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ações concretas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PDTI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Indicar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que seria terceirizado e por quê?</a:t>
            </a:r>
          </a:p>
          <a:p>
            <a:pPr marL="0" indent="0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Entrega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apresentação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 min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76682751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94CA4-E5E3-037A-5250-D5E02B7EA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55ADCC5-FC96-1E83-FDA8-3A03745E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Conclusão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4611900-AB91-DD17-67BB-8E2E6DD8A34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5050"/>
            <a:ext cx="8865056" cy="399415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conecta </a:t>
            </a: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à estratégia</a:t>
            </a:r>
          </a:p>
          <a:p>
            <a:pPr>
              <a:buFont typeface="Wingdings" panose="05000000000000000000" pitchFamily="2" charset="2"/>
              <a:buChar char="ü"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transforma estratégia em ação</a:t>
            </a:r>
          </a:p>
          <a:p>
            <a:pPr>
              <a:buFont typeface="Wingdings" panose="05000000000000000000" pitchFamily="2" charset="2"/>
              <a:buChar char="ü"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Terceirização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decisão estratégica</a:t>
            </a:r>
          </a:p>
          <a:p>
            <a:pPr>
              <a:buFont typeface="Wingdings" panose="05000000000000000000" pitchFamily="2" charset="2"/>
              <a:buChar char="ü"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não é suporte; é parte da </a:t>
            </a: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estratégia do negócio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721265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8742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REZENDE, Denis Alcides. 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Planejamento estratégico para organizações privadas e públicas. RJ: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Brasport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2018.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TURBAN, Efraim et al. 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Tecnologia da Informação para Gestão. 10. ed. Porto Alegre: Bookman, 2020.</a:t>
            </a: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BRASIL. Ministério da Economia. 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Guia de Elaboração PDTI. Brasília, 2023. Disponível em: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https://www.gov.br/governodigital</a:t>
            </a: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pt-BR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LAUDON, Kenneth C.; LAUDON, Jane P. </a:t>
            </a:r>
          </a:p>
          <a:p>
            <a:pPr marL="0" indent="0"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Sistemas de Informação Gerenciais. 16. ed. São Paulo: Pearson, 2021.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GESTÃO DE INFORMAÇÃO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  <p:pic>
        <p:nvPicPr>
          <p:cNvPr id="2" name="Google Shape;62;p1" descr="Imagem">
            <a:extLst>
              <a:ext uri="{FF2B5EF4-FFF2-40B4-BE49-F238E27FC236}">
                <a16:creationId xmlns:a16="http://schemas.microsoft.com/office/drawing/2014/main" id="{9C895622-2963-024D-634E-EA58F5381D0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9898" y="343798"/>
            <a:ext cx="2858518" cy="1338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4269</TotalTime>
  <Words>618</Words>
  <Application>Microsoft Office PowerPoint</Application>
  <PresentationFormat>Apresentação na tela (16:9)</PresentationFormat>
  <Paragraphs>139</Paragraphs>
  <Slides>16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Times New Roman</vt:lpstr>
      <vt:lpstr>Wingdings</vt:lpstr>
      <vt:lpstr>Office Theme</vt:lpstr>
      <vt:lpstr>GESTÃO DE INFORMAÇÃO</vt:lpstr>
      <vt:lpstr> Aula 05  PLANEJAM. ESTRATÉGICO DE TI (PETI) E (PDTI) </vt:lpstr>
      <vt:lpstr>Objetivo da Aula</vt:lpstr>
      <vt:lpstr>Conceito PETI</vt:lpstr>
      <vt:lpstr>PEC vs PETI</vt:lpstr>
      <vt:lpstr>Conceito PDTI</vt:lpstr>
      <vt:lpstr>PETI vs PDTI</vt:lpstr>
      <vt:lpstr>Terceirização de TI</vt:lpstr>
      <vt:lpstr>Vantagens e Riscos da TI</vt:lpstr>
      <vt:lpstr>Leitura Específica</vt:lpstr>
      <vt:lpstr>Aprenda+</vt:lpstr>
      <vt:lpstr>Estudo de Caso</vt:lpstr>
      <vt:lpstr>Dinâmica/Atividade</vt:lpstr>
      <vt:lpstr>Conclusão</vt:lpstr>
      <vt:lpstr>Referências Bibliográficas</vt:lpstr>
      <vt:lpstr>GESTÃO DE INFORMAÇÃO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</cp:lastModifiedBy>
  <cp:revision>1084</cp:revision>
  <dcterms:created xsi:type="dcterms:W3CDTF">2020-03-17T20:12:34Z</dcterms:created>
  <dcterms:modified xsi:type="dcterms:W3CDTF">2026-03-25T17:41:02Z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