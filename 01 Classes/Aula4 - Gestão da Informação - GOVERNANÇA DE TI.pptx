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91" r:id="rId3"/>
    <p:sldId id="331" r:id="rId4"/>
    <p:sldId id="361" r:id="rId5"/>
    <p:sldId id="362" r:id="rId6"/>
    <p:sldId id="363" r:id="rId7"/>
    <p:sldId id="364" r:id="rId8"/>
    <p:sldId id="365" r:id="rId9"/>
    <p:sldId id="333" r:id="rId10"/>
    <p:sldId id="323" r:id="rId11"/>
    <p:sldId id="360" r:id="rId12"/>
    <p:sldId id="366" r:id="rId13"/>
    <p:sldId id="367" r:id="rId14"/>
    <p:sldId id="337" r:id="rId15"/>
    <p:sldId id="309" r:id="rId16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3FCF-CA15-FF42-58E3-D3B8422C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E60601-59D4-0BB3-0771-ADCC88A8A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A8AF91-92BE-55E1-7888-7826FED1E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918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6A23-A3C2-CAE4-699A-B8178FC5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8BC3E8-B58B-22D1-2F42-99413F1CB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4916ED-8239-A5B4-398F-258842960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542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FC6F-0F03-AFA2-4994-360A3FEE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7771BB-9145-8B49-C187-272161F37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E35EBD-AD4C-5C5A-0743-29238E59D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903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1E9-0F75-E8E3-1E1E-9FAB357B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562A91-16D5-7529-049D-A5B5CE37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96222B-39EC-37B6-483B-0F8D8D25E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0859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F97A-273D-AE85-6449-BA3C7F0C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35EE5A-F7E8-00C4-4837-BC29E9FC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31E44A-A1D0-1030-72D1-90F834C48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826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3E5B-C292-859D-FB83-976D9C6E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4371D-BD8E-838C-430B-89FECE9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1DF927-0375-C257-C3B6-37010EA3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069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91DA-9EE7-4ECA-20A3-384286A7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9625D2-DDA8-0B6A-998D-2A339B25C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AD2D7F-7120-4831-818D-068F2E03A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697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2242B-F1A9-C118-692F-6BB2C2A3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78D07E-AB63-79F4-10D5-94B035DF0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09462A-E3CD-0DD8-0A94-790C2D9BF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7520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aca.org/resources/cob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axelos.com/best-practice-solutions/iti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C9G4cW0Y3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3uZ7k8p9b5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Aula 04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GOVERNANÇA DE TI 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Objetivo</a:t>
            </a:r>
            <a:r>
              <a:rPr lang="en-US" b="1" dirty="0">
                <a:solidFill>
                  <a:srgbClr val="0070C0"/>
                </a:solidFill>
              </a:rPr>
              <a:t> da Aula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Compreender como a Governança de TI conecta estratégia organizacional e tecnologia, aplicando conceitos teóricos em cenários reais.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B093-8CE1-0BD5-0FCD-58E372EE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36988F-7735-F2CA-C4BC-C9EB37E9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Conceito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Governança</a:t>
            </a:r>
            <a:r>
              <a:rPr lang="en-US" b="1" dirty="0">
                <a:solidFill>
                  <a:srgbClr val="0070C0"/>
                </a:solidFill>
              </a:rPr>
              <a:t> de TI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6A8EB18-C719-730F-0DF7-99E2326FBFA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práticas que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garantem alinhamento entre TI e negócio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em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Geração de valor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Gestão de riscos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 eficiente de recursos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Envolve decisões estratégicas sobre tecnologia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prática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Empresas utilizam Governança de TI para decidir investimentos, priorizar projetos e controlar riscos digitais.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8758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295A-B5FD-6FA8-576D-33A30D08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20956E-6311-B90E-6F95-93D4CCEE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Governança</a:t>
            </a:r>
            <a:r>
              <a:rPr lang="en-US" b="1" dirty="0">
                <a:solidFill>
                  <a:srgbClr val="0070C0"/>
                </a:solidFill>
              </a:rPr>
              <a:t> vs </a:t>
            </a:r>
            <a:r>
              <a:rPr lang="en-US" b="1" dirty="0" err="1">
                <a:solidFill>
                  <a:srgbClr val="0070C0"/>
                </a:solidFill>
              </a:rPr>
              <a:t>Gestão</a:t>
            </a:r>
            <a:r>
              <a:rPr lang="en-US" b="1" dirty="0">
                <a:solidFill>
                  <a:srgbClr val="0070C0"/>
                </a:solidFill>
              </a:rPr>
              <a:t> de TI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D87D7F3-524C-2AEE-BC17-E137FDC50AB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Governança de TI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direção e controle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Foco estratégico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Alta administração	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Governança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decide "implantar ERP"</a:t>
            </a:r>
          </a:p>
          <a:p>
            <a:pPr algn="just"/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executa o projeto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7260BD-EAF4-BBDC-5A68-140D0091E304}"/>
              </a:ext>
            </a:extLst>
          </p:cNvPr>
          <p:cNvSpPr txBox="1">
            <a:spLocks/>
          </p:cNvSpPr>
          <p:nvPr/>
        </p:nvSpPr>
        <p:spPr>
          <a:xfrm>
            <a:off x="4410635" y="1086897"/>
            <a:ext cx="3469341" cy="1485766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Autofit/>
          </a:bodyPr>
          <a:lstStyle>
            <a:lvl1pPr marL="342900" marR="0" indent="-342900" algn="l" defTabSz="4572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90575" marR="0" indent="-333375" algn="l" defTabSz="4572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–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40" marR="0" indent="-320040" algn="l" defTabSz="4572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4572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–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4572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»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517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1089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661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23360" marR="0" indent="-36576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Gestão de TI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 operações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tático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operacional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Equipes técnicas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8248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68BA-1FB9-8796-A2E0-56F617BF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69DEDE1-A8E3-C28A-B98B-58EE066F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Modelos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Implementação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A7EA268-FBDA-A76F-A667-42F078817E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Principais frameworks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(controle e governança)</a:t>
            </a:r>
          </a:p>
          <a:p>
            <a:pPr algn="just"/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(gestão de serviços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ISO/IEC 38500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(governança corporativa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Aplicação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Empresas usam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auditoria.</a:t>
            </a:r>
          </a:p>
          <a:p>
            <a:pPr algn="just"/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suporte e atendimento ao usuário.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1393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256A-B582-1BDF-EF24-F81BACF33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21A885-2924-B60A-76E7-C3053642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Prática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Nacionais</a:t>
            </a:r>
            <a:r>
              <a:rPr lang="en-US" b="1" dirty="0">
                <a:solidFill>
                  <a:srgbClr val="0070C0"/>
                </a:solidFill>
              </a:rPr>
              <a:t> e </a:t>
            </a:r>
            <a:r>
              <a:rPr lang="en-US" b="1" dirty="0" err="1">
                <a:solidFill>
                  <a:srgbClr val="0070C0"/>
                </a:solidFill>
              </a:rPr>
              <a:t>Internacionais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8BCEE85-AE41-272B-AB02-980E675ABD8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Internacional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Adoção de padrões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Brasil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Forte uso em bancos e setor público;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Influência de órgãos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TCU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Instituições financeiras utilizam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Governança de TI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atender normas do Banco Central.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6764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D1EA-8A9E-6BEE-CACA-850B953A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09DA42-67E2-B826-9E93-A0E945B9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Prática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Nacionais</a:t>
            </a:r>
            <a:r>
              <a:rPr lang="en-US" b="1" dirty="0">
                <a:solidFill>
                  <a:srgbClr val="0070C0"/>
                </a:solidFill>
              </a:rPr>
              <a:t> e </a:t>
            </a:r>
            <a:r>
              <a:rPr lang="en-US" b="1" dirty="0" err="1">
                <a:solidFill>
                  <a:srgbClr val="0070C0"/>
                </a:solidFill>
              </a:rPr>
              <a:t>Internacionais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4031DA7-1013-5F71-707D-FECABCAF663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Internacional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Adoção de padrões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Brasil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Forte uso em bancos e setor público;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Influência de órgãos como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TCU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Instituições financeiras utilizam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Governança de TI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atender normas do Banco Central.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58806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ISACA – COBIT Framework (oficial)</a:t>
            </a:r>
          </a:p>
          <a:p>
            <a:pPr marL="0" indent="0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https://www.isaca.org/resources/cobit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Portal ITIL (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Axelos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PeopleCert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https://www.axelos.com/best-practice-solutions/itil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é Governança de TI (explicação clara)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https://www.youtube.com/watch?v=ZC9G4cW0Y3E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COBIT na prática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https://www.youtube.com/watch?v=3uZ7k8p9b5E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C7D-8CF9-A63F-57A2-D983DEB5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C4C3A19-ED0C-1CE0-1512-03DBBA8E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Atividade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err="1">
                <a:solidFill>
                  <a:srgbClr val="0070C0"/>
                </a:solidFill>
              </a:rPr>
              <a:t>Estudo</a:t>
            </a:r>
            <a:r>
              <a:rPr lang="en-US" b="1" dirty="0">
                <a:solidFill>
                  <a:srgbClr val="0070C0"/>
                </a:solidFill>
              </a:rPr>
              <a:t> de Caso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5119E1-EF11-7248-2ADA-8776A0D7E7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empresa apresenta problemas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fora do ar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controle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Custos elevados</a:t>
            </a:r>
          </a:p>
          <a:p>
            <a:pPr marL="457200" indent="-45720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Pergunta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a Governança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resolver?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68275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DABA-F85B-CCBA-0EA4-1824BC8D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6AF369-8A31-B707-3254-F4E38B4F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Atividade</a:t>
            </a:r>
            <a:r>
              <a:rPr lang="en-US" b="1" dirty="0">
                <a:solidFill>
                  <a:srgbClr val="0070C0"/>
                </a:solidFill>
              </a:rPr>
              <a:t>: Framework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64EDAB-47D4-0A5D-DC77-98FA139836A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entre COBIT ou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ITIL</a:t>
            </a:r>
          </a:p>
          <a:p>
            <a:pPr marL="0" indent="0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práticas aplicáveis;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benefício esperado.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apresentação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min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656938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023E-9858-F34E-8D96-DFAF4AFE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6847EEC-3AB4-A0A1-0F83-8E5155C2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Atividade</a:t>
            </a:r>
            <a:r>
              <a:rPr lang="en-US" b="1" dirty="0">
                <a:solidFill>
                  <a:srgbClr val="0070C0"/>
                </a:solidFill>
              </a:rPr>
              <a:t>: Debate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63BD2E-EC71-8BB0-9C9F-8558967657B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5050"/>
            <a:ext cx="8865056" cy="399415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 empresa precisa de Governança de TI?</a:t>
            </a:r>
          </a:p>
          <a:p>
            <a:pPr marL="0" indent="0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8079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ISACA. COBIT 2019 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Governance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Rolling Meadows: ISACA, 2019.</a:t>
            </a:r>
          </a:p>
          <a:p>
            <a:pPr marL="0" indent="0" algn="just">
              <a:buNone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AXELOS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ITIL Foundation: ITIL 4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London: TSO, 2019.</a:t>
            </a:r>
          </a:p>
          <a:p>
            <a:pPr marL="0" indent="0">
              <a:buNone/>
            </a:pP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WEILL, P.; ROSS, J. W. 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Governance: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Performers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Decision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Superior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Boston: Harvard Business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2004.</a:t>
            </a:r>
          </a:p>
          <a:p>
            <a:pPr marL="0" indent="0">
              <a:buNone/>
            </a:pP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ASSOCIAÇÃO BRASILEIRA DE NORMAS TÉCNICAS. NBR ISO/IEC 38500: 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Governança Corporativa de TI. Rio de Janeiro: ABNT, 2009.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DE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4228</TotalTime>
  <Words>557</Words>
  <Application>Microsoft Office PowerPoint</Application>
  <PresentationFormat>Apresentação na tela (16:9)</PresentationFormat>
  <Paragraphs>118</Paragraphs>
  <Slides>15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GESTÃO DE INFORMAÇÃO</vt:lpstr>
      <vt:lpstr> Aula 04  GOVERNANÇA DE TI </vt:lpstr>
      <vt:lpstr>Objetivo da Aula</vt:lpstr>
      <vt:lpstr>Conceito de Governança de TI</vt:lpstr>
      <vt:lpstr>Governança vs Gestão de TI</vt:lpstr>
      <vt:lpstr>Modelos de Implementação</vt:lpstr>
      <vt:lpstr>Prática Nacionais e Internacionais</vt:lpstr>
      <vt:lpstr>Prática Nacionais e Internacionais</vt:lpstr>
      <vt:lpstr>Leitura Específica</vt:lpstr>
      <vt:lpstr>Aprenda+</vt:lpstr>
      <vt:lpstr>Atividade: Estudo de Caso</vt:lpstr>
      <vt:lpstr>Atividade: Framework</vt:lpstr>
      <vt:lpstr>Atividade: Debate</vt:lpstr>
      <vt:lpstr>Referências Bibliográficas</vt:lpstr>
      <vt:lpstr>GESTÃO DE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1075</cp:revision>
  <dcterms:created xsi:type="dcterms:W3CDTF">2020-03-17T20:12:34Z</dcterms:created>
  <dcterms:modified xsi:type="dcterms:W3CDTF">2026-03-25T17:45:32Z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