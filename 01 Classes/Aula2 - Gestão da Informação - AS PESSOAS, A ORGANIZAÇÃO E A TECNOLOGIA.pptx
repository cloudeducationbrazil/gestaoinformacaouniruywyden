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91" r:id="rId3"/>
    <p:sldId id="331" r:id="rId4"/>
    <p:sldId id="351" r:id="rId5"/>
    <p:sldId id="365" r:id="rId6"/>
    <p:sldId id="366" r:id="rId7"/>
    <p:sldId id="367" r:id="rId8"/>
    <p:sldId id="368" r:id="rId9"/>
    <p:sldId id="369" r:id="rId10"/>
    <p:sldId id="370" r:id="rId11"/>
    <p:sldId id="371" r:id="rId12"/>
    <p:sldId id="333" r:id="rId13"/>
    <p:sldId id="323" r:id="rId14"/>
    <p:sldId id="360" r:id="rId15"/>
    <p:sldId id="372" r:id="rId16"/>
    <p:sldId id="337" r:id="rId17"/>
    <p:sldId id="309" r:id="rId18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>
        <p15:guide id="1" orient="horz" pos="157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Estilo Claro 1 - Ênfas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Estilo Claro 2 - Ênfase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147" autoAdjust="0"/>
    <p:restoredTop sz="83649" autoAdjust="0"/>
  </p:normalViewPr>
  <p:slideViewPr>
    <p:cSldViewPr snapToGrid="0">
      <p:cViewPr varScale="1">
        <p:scale>
          <a:sx n="71" d="100"/>
          <a:sy n="71" d="100"/>
        </p:scale>
        <p:origin x="678" y="60"/>
      </p:cViewPr>
      <p:guideLst>
        <p:guide orient="horz" pos="157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4494"/>
    </p:cViewPr>
  </p:sorterViewPr>
  <p:notesViewPr>
    <p:cSldViewPr snapToGrid="0">
      <p:cViewPr varScale="1">
        <p:scale>
          <a:sx n="56" d="100"/>
          <a:sy n="56" d="100"/>
        </p:scale>
        <p:origin x="-2826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0" name="Shape 11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56252599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973974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357535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F82FE-E9FE-4711-F16F-6CD979D03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9CBEBE9-EE3E-E401-1F11-8FEF739B34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54943BC-75EB-B1E5-17C0-C1AF37024A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256309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F9D16-FCE6-87B3-9DB5-6F15F80EA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BAA50A8-194C-A4B3-FC11-E66AC0DE5D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BF522B6-DEFE-E417-CFD5-F06940D990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47164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4E908-81E7-A6A3-A83E-CAC340A3F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12AD45A-DAD1-7AF3-6B8F-A2F2FE4A11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33BA99E-7D7C-A974-945E-8F12E5321F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029171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6285A-F89D-CA84-1F2F-DCFE2B51D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132CE8C-8244-5E54-4168-749F1FA03E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E1665B9-7EF0-4304-DE2D-A0E0CBFA88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775202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3E429-CE4E-9E46-481D-0F3FDFD36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279F208-06C3-2DA1-CAB1-A2A47C832A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260DC4D-2EEF-503C-411D-B843607154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010084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713A5-43D8-A525-8197-4475C6FFE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8792D1B-5180-EC53-5CA8-5E2309816C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DF8AD5E-1C7B-B0DE-AEEC-585C1A8F18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36272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271FC-A8AC-2DA7-554C-1F1BE5930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8CA453A-F3AA-A7F0-76AB-B2EDB356C9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9498A78-08C0-A77C-13C5-0C1BA3EC2D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326036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3BEB3-1B38-EB4A-A001-4CE1BE0A6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DA404A7-8782-B578-228F-05FA3DB466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B5D3B59-61B5-4BF8-36C8-ECEE631851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319068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853043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095695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63E5B-C292-859D-FB83-976D9C6E3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4E4371D-BD8E-838C-430B-89FECE90D3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01DF927-0375-C257-C3B6-37010EA380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560692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6BE89-75DB-9979-6202-4DFBC9F6D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84E9988-80C0-F95B-FF35-3D6586EA9A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5DBDF6A-E3CA-2D89-69C4-1380BE1683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11830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90351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685802" y="1597820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12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13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722313" y="3305176"/>
            <a:ext cx="7772402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Texto do Título</a:t>
            </a:r>
          </a:p>
        </p:txBody>
      </p:sp>
      <p:sp>
        <p:nvSpPr>
          <p:cNvPr id="30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722313" y="2180035"/>
            <a:ext cx="7772402" cy="1125142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31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o do Títu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39" name="Nível de Corpo Um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457201" y="1200151"/>
            <a:ext cx="4038601" cy="3394472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40" indent="-320040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0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o do Títu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48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645028" y="1151334"/>
            <a:ext cx="4041774" cy="479824"/>
          </a:xfrm>
          <a:prstGeom prst="rect">
            <a:avLst/>
          </a:prstGeom>
        </p:spPr>
        <p:txBody>
          <a:bodyPr anchor="b"/>
          <a:lstStyle/>
          <a:p>
            <a:endParaRPr/>
          </a:p>
        </p:txBody>
      </p:sp>
      <p:sp>
        <p:nvSpPr>
          <p:cNvPr id="50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457203" y="204787"/>
            <a:ext cx="3008315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Texto do Título</a:t>
            </a:r>
          </a:p>
        </p:txBody>
      </p:sp>
      <p:sp>
        <p:nvSpPr>
          <p:cNvPr id="73" name="Nível de Corpo Um…"/>
          <p:cNvSpPr txBox="1">
            <a:spLocks noGrp="1"/>
          </p:cNvSpPr>
          <p:nvPr>
            <p:ph type="body" idx="1" hasCustomPrompt="1"/>
          </p:nvPr>
        </p:nvSpPr>
        <p:spPr>
          <a:xfrm>
            <a:off x="3575052" y="204789"/>
            <a:ext cx="5111749" cy="4389835"/>
          </a:xfrm>
          <a:prstGeom prst="rect">
            <a:avLst/>
          </a:prstGeom>
        </p:spPr>
        <p:txBody>
          <a:bodyPr/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half" idx="13"/>
          </p:nvPr>
        </p:nvSpPr>
        <p:spPr>
          <a:xfrm>
            <a:off x="457198" y="1076326"/>
            <a:ext cx="3008316" cy="3518297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5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1792289" y="3600450"/>
            <a:ext cx="5486402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Texto do Título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13"/>
          </p:nvPr>
        </p:nvSpPr>
        <p:spPr>
          <a:xfrm>
            <a:off x="1792289" y="459581"/>
            <a:ext cx="5486402" cy="3086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4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792289" y="4025503"/>
            <a:ext cx="5486402" cy="60364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85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o do Títu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93" name="Nível de Corpo Um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94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6629399" y="205980"/>
            <a:ext cx="2057401" cy="4388645"/>
          </a:xfrm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102" name="Nível de Corpo Um…"/>
          <p:cNvSpPr txBox="1">
            <a:spLocks noGrp="1"/>
          </p:cNvSpPr>
          <p:nvPr>
            <p:ph type="body" idx="1" hasCustomPrompt="1"/>
          </p:nvPr>
        </p:nvSpPr>
        <p:spPr>
          <a:xfrm>
            <a:off x="457200" y="205980"/>
            <a:ext cx="6019801" cy="4388645"/>
          </a:xfrm>
          <a:prstGeom prst="rect">
            <a:avLst/>
          </a:prstGeom>
        </p:spPr>
        <p:txBody>
          <a:bodyPr/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103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do Título"/>
          <p:cNvSpPr txBox="1"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rmAutofit/>
          </a:bodyPr>
          <a:lstStyle/>
          <a:p>
            <a:r>
              <a:t>Texto do Título</a:t>
            </a:r>
          </a:p>
        </p:txBody>
      </p:sp>
      <p:sp>
        <p:nvSpPr>
          <p:cNvPr id="3" name="Nível de Corpo Um…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>
            <a:normAutofit/>
          </a:bodyPr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" name="Número do Slide"/>
          <p:cNvSpPr txBox="1">
            <a:spLocks noGrp="1"/>
          </p:cNvSpPr>
          <p:nvPr>
            <p:ph type="sldNum" sz="quarter" idx="2"/>
          </p:nvPr>
        </p:nvSpPr>
        <p:spPr>
          <a:xfrm>
            <a:off x="8342803" y="4765688"/>
            <a:ext cx="344000" cy="276995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  <a:t>‹nº›</a:t>
            </a:fld>
            <a:endParaRPr/>
          </a:p>
        </p:txBody>
      </p:sp>
      <p:pic>
        <p:nvPicPr>
          <p:cNvPr id="5" name="Picture 5" descr="Picture 5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6" name="Picture 6" descr="Picture 6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6649752" y="4972050"/>
            <a:ext cx="2494252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" name="Imagem" descr="Imagem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051528" y="4341020"/>
            <a:ext cx="1690697" cy="545441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590" marR="0" indent="-32639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»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books.google.com/books?id=Q2c6DwAAQBAJ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scielo.br/j/rac/a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Yg5h7Zz2QmQ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youtube.com/watch?v=8a6V7x0dYxQ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285751" y="2386770"/>
            <a:ext cx="8615364" cy="1102519"/>
          </a:xfrm>
        </p:spPr>
        <p:txBody>
          <a:bodyPr>
            <a:noAutofit/>
          </a:bodyPr>
          <a:lstStyle/>
          <a:p>
            <a:r>
              <a:rPr lang="pt-BR" sz="4800" b="1" dirty="0">
                <a:solidFill>
                  <a:schemeClr val="bg1"/>
                </a:solidFill>
              </a:rPr>
              <a:t>GESTÃO DE INFORMAÇÃO</a:t>
            </a: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 dirty="0" err="1">
                <a:solidFill>
                  <a:schemeClr val="bg1"/>
                </a:solidFill>
              </a:rPr>
              <a:t>MSc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  <p:pic>
        <p:nvPicPr>
          <p:cNvPr id="2" name="Google Shape;62;p1" descr="Imagem">
            <a:extLst>
              <a:ext uri="{FF2B5EF4-FFF2-40B4-BE49-F238E27FC236}">
                <a16:creationId xmlns:a16="http://schemas.microsoft.com/office/drawing/2014/main" id="{D9A56D89-1300-762A-5BD5-16B3C4E9985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9898" y="343798"/>
            <a:ext cx="2858518" cy="13386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348258" y="2277667"/>
            <a:ext cx="8681444" cy="1102519"/>
          </a:xfrm>
        </p:spPr>
        <p:txBody>
          <a:bodyPr>
            <a:noAutofit/>
          </a:bodyPr>
          <a:lstStyle/>
          <a:p>
            <a:pPr algn="l"/>
            <a:br>
              <a:rPr lang="pt-BR" sz="3200" b="1" dirty="0">
                <a:solidFill>
                  <a:schemeClr val="bg1"/>
                </a:solidFill>
              </a:rPr>
            </a:br>
            <a:r>
              <a:rPr lang="pt-BR" sz="3200" b="1" dirty="0">
                <a:solidFill>
                  <a:schemeClr val="bg1"/>
                </a:solidFill>
              </a:rPr>
              <a:t>Aula 02</a:t>
            </a:r>
            <a:br>
              <a:rPr lang="pt-BR" sz="3200" b="1" dirty="0">
                <a:solidFill>
                  <a:schemeClr val="bg1"/>
                </a:solidFill>
              </a:rPr>
            </a:br>
            <a:r>
              <a:rPr lang="pt-BR" sz="3200" b="1" dirty="0">
                <a:solidFill>
                  <a:schemeClr val="bg1"/>
                </a:solidFill>
              </a:rPr>
              <a:t>	AS PESSOAS, A ORGANIZAÇÃO E A TECNOLOGIA</a:t>
            </a: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 dirty="0" err="1">
                <a:solidFill>
                  <a:schemeClr val="bg1"/>
                </a:solidFill>
              </a:rPr>
              <a:t>MSc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  <p:pic>
        <p:nvPicPr>
          <p:cNvPr id="4" name="Google Shape;62;p1" descr="Imagem">
            <a:extLst>
              <a:ext uri="{FF2B5EF4-FFF2-40B4-BE49-F238E27FC236}">
                <a16:creationId xmlns:a16="http://schemas.microsoft.com/office/drawing/2014/main" id="{652F850C-6AD9-5CD4-839F-152858F1361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9898" y="343798"/>
            <a:ext cx="2858518" cy="13386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Objetivo</a:t>
            </a:r>
            <a:r>
              <a:rPr lang="en-US" b="1" dirty="0">
                <a:solidFill>
                  <a:srgbClr val="0070C0"/>
                </a:solidFill>
              </a:rPr>
              <a:t> da Aula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5050"/>
            <a:ext cx="8865056" cy="3994150"/>
          </a:xfrm>
        </p:spPr>
        <p:txBody>
          <a:bodyPr>
            <a:noAutofit/>
          </a:bodyPr>
          <a:lstStyle/>
          <a:p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Compreender Sistemas de Informação (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Relacionar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 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à estratégia organizacional</a:t>
            </a:r>
          </a:p>
          <a:p>
            <a:pPr marL="0" indent="0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Aplicar conceitos em empresas reais</a:t>
            </a:r>
          </a:p>
          <a:p>
            <a:pPr marL="0" indent="0" algn="just">
              <a:buNone/>
            </a:pP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2980025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8C01A-0A73-4711-4338-ECFF16710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CB606F2-DABE-5BA9-1239-D171CC47F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Evolução</a:t>
            </a:r>
            <a:r>
              <a:rPr lang="en-US" b="1" dirty="0">
                <a:solidFill>
                  <a:srgbClr val="0070C0"/>
                </a:solidFill>
              </a:rPr>
              <a:t> dos SI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95EDD4A-F8A2-F443-E99A-7DC63EF06908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994709"/>
            <a:ext cx="8865056" cy="3994150"/>
          </a:xfrm>
        </p:spPr>
        <p:txBody>
          <a:bodyPr>
            <a:noAutofit/>
          </a:bodyPr>
          <a:lstStyle/>
          <a:p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Departamento Pessoal: foco operacional</a:t>
            </a:r>
          </a:p>
          <a:p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Sistema de Informação Gerencial: apoio gerencial</a:t>
            </a:r>
          </a:p>
          <a:p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SAD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apoio à decisão</a:t>
            </a:r>
          </a:p>
          <a:p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Analytics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inteligência de negócios</a:t>
            </a:r>
          </a:p>
          <a:p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Transformação Digital</a:t>
            </a:r>
          </a:p>
          <a:p>
            <a:pPr lvl="0"/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4879604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C861B-DD7F-8B10-A8A0-617DCAD3A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0F3EA4C-CE7A-FCEA-09B3-D5C25E9C4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Exemplo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Prático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Administração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8F4AB17-4DE3-7B12-4BB6-BDE3C0404743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994709"/>
            <a:ext cx="8865056" cy="3994150"/>
          </a:xfrm>
        </p:spPr>
        <p:txBody>
          <a:bodyPr>
            <a:noAutofit/>
          </a:bodyPr>
          <a:lstStyle/>
          <a:p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ERP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 empresas</a:t>
            </a:r>
          </a:p>
          <a:p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CRM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relacionamento com clientes</a:t>
            </a:r>
          </a:p>
          <a:p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 tomada de decisão</a:t>
            </a:r>
          </a:p>
          <a:p>
            <a:pPr marL="0" indent="0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Exemplo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varejo, bancos, indústria</a:t>
            </a:r>
          </a:p>
          <a:p>
            <a:pPr lvl="0"/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1820090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EFF74-BA89-FD27-3310-8738ACBA7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D7B02F2-7A48-49AF-9D36-912A8B73C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Componentes</a:t>
            </a:r>
            <a:r>
              <a:rPr lang="en-US" b="1" dirty="0">
                <a:solidFill>
                  <a:srgbClr val="0070C0"/>
                </a:solidFill>
              </a:rPr>
              <a:t> de SI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7E062C4-167E-8C19-C600-523D075E8595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994709"/>
            <a:ext cx="8865056" cy="3994150"/>
          </a:xfrm>
        </p:spPr>
        <p:txBody>
          <a:bodyPr>
            <a:noAutofit/>
          </a:bodyPr>
          <a:lstStyle/>
          <a:p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Pessoas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(gestores e usuários)</a:t>
            </a:r>
          </a:p>
          <a:p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Processos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organizacionais</a:t>
            </a:r>
          </a:p>
          <a:p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Tecnologia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(hardware/software)</a:t>
            </a:r>
          </a:p>
          <a:p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Dados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(informação estratégica)</a:t>
            </a:r>
          </a:p>
          <a:p>
            <a:pPr lvl="0"/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4770587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ADECE-9337-0877-A263-32E9FDC55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0B525E7-ACA5-3472-F8C2-1CC719D9F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Visão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Sistêmica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1616A74-427E-5188-693B-C0480FE734D8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994709"/>
            <a:ext cx="8865056" cy="3994150"/>
          </a:xfrm>
        </p:spPr>
        <p:txBody>
          <a:bodyPr>
            <a:noAutofit/>
          </a:bodyPr>
          <a:lstStyle/>
          <a:p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Integração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entre áreas</a:t>
            </a:r>
          </a:p>
          <a:p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Fluxo de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informação</a:t>
            </a:r>
          </a:p>
          <a:p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Tomada de decisão 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baseada em dados</a:t>
            </a:r>
          </a:p>
          <a:p>
            <a:pPr lvl="0"/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264481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D4B27-4B69-C978-AC82-D6C6A7354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5E663C6-D9F3-F61E-179B-DD00CE3CD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Estratégias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Organizacionais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75D170E-0A5B-5401-7909-158338669831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994709"/>
            <a:ext cx="8865056" cy="3994150"/>
          </a:xfrm>
        </p:spPr>
        <p:txBody>
          <a:bodyPr>
            <a:noAutofit/>
          </a:bodyPr>
          <a:lstStyle/>
          <a:p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Liderança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 custos</a:t>
            </a:r>
          </a:p>
          <a:p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Diferenciação</a:t>
            </a:r>
          </a:p>
          <a:p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Foco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(nicho)</a:t>
            </a:r>
          </a:p>
          <a:p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como vantagem competitiva</a:t>
            </a:r>
          </a:p>
          <a:p>
            <a:pPr lvl="0"/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8003439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BAE33-49C4-CFCB-7DD8-619334C1B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FA838CC-813A-3F6E-EC95-CF318B35C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Exemplo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Estratégico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95124B1-BD60-0127-C550-C412F1A6BDB4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994709"/>
            <a:ext cx="8865056" cy="3994150"/>
          </a:xfrm>
        </p:spPr>
        <p:txBody>
          <a:bodyPr>
            <a:noAutofit/>
          </a:bodyPr>
          <a:lstStyle/>
          <a:p>
            <a:r>
              <a:rPr lang="pt-BR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Amazon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uso intensivo de tecnologia</a:t>
            </a:r>
          </a:p>
          <a:p>
            <a:pPr marL="0" indent="0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Bancos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automação e digitalização</a:t>
            </a:r>
          </a:p>
          <a:p>
            <a:pPr marL="0" indent="0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Pequenas empresas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uso de sistemas simples</a:t>
            </a:r>
          </a:p>
          <a:p>
            <a:pPr marL="0" lvl="0" indent="0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4040523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5CAF8-F31B-FFA6-9AD3-6CDBF9600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CA8E6CE-BD23-033F-D0F2-5552E8997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Pessoa e </a:t>
            </a:r>
            <a:r>
              <a:rPr lang="en-US" b="1" dirty="0" err="1">
                <a:solidFill>
                  <a:srgbClr val="0070C0"/>
                </a:solidFill>
              </a:rPr>
              <a:t>Tecnologia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0B9415C-F6B8-0A24-355D-F20CCEB269E8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994709"/>
            <a:ext cx="8865056" cy="3994150"/>
          </a:xfrm>
        </p:spPr>
        <p:txBody>
          <a:bodyPr>
            <a:noAutofit/>
          </a:bodyPr>
          <a:lstStyle/>
          <a:p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Capital humano 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como diferencial</a:t>
            </a:r>
          </a:p>
          <a:p>
            <a:pPr marL="0" indent="0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Cultura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organizacional</a:t>
            </a:r>
          </a:p>
          <a:p>
            <a:pPr marL="0" indent="0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Trabalho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 equipe</a:t>
            </a:r>
          </a:p>
          <a:p>
            <a:pPr marL="0" indent="0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Adoção de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tecnologia</a:t>
            </a:r>
          </a:p>
          <a:p>
            <a:pPr marL="0" lvl="0" indent="0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093953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1BF9B-0DD5-23EE-0067-3A70A30EF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A07CF1A-C224-B91F-8407-547A307D9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Desafios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Organizacionais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F30C16-76FC-145B-89B9-8B52FEF6EBE9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994709"/>
            <a:ext cx="8865056" cy="3994150"/>
          </a:xfrm>
        </p:spPr>
        <p:txBody>
          <a:bodyPr>
            <a:noAutofit/>
          </a:bodyPr>
          <a:lstStyle/>
          <a:p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Resistência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à mudança</a:t>
            </a:r>
          </a:p>
          <a:p>
            <a:pPr marL="0" indent="0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Treinamento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equipes</a:t>
            </a:r>
          </a:p>
          <a:p>
            <a:pPr marL="0" indent="0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Integração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sistemas</a:t>
            </a:r>
          </a:p>
          <a:p>
            <a:pPr marL="0" indent="0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Segurança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 informação</a:t>
            </a:r>
          </a:p>
        </p:txBody>
      </p:sp>
    </p:spTree>
    <p:extLst>
      <p:ext uri="{BB962C8B-B14F-4D97-AF65-F5344CB8AC3E}">
        <p14:creationId xmlns:p14="http://schemas.microsoft.com/office/powerpoint/2010/main" val="1772733290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Leitura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Específica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6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Livro (Google Books).</a:t>
            </a:r>
          </a:p>
          <a:p>
            <a:pPr marL="0" indent="0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Disponível em: 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https://books.google.com/books?id=Q2c6DwAAQBAJ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endParaRPr lang="pt-BR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Artigo SciELO.</a:t>
            </a:r>
            <a:b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Disponível em: 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https://www.scielo.br/j/rac/a/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pt-BR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0270425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Aprenda</a:t>
            </a:r>
            <a:r>
              <a:rPr lang="en-US" b="1" dirty="0">
                <a:solidFill>
                  <a:srgbClr val="0070C0"/>
                </a:solidFill>
              </a:rPr>
              <a:t>+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Transformação Digital</a:t>
            </a:r>
          </a:p>
          <a:p>
            <a:pPr marL="0" indent="0" algn="just">
              <a:buNone/>
            </a:pPr>
            <a:r>
              <a:rPr lang="pt-B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Disponível em: 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https://www.youtube.com/watch?v=Yg5h7Zz2QmQ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endParaRPr lang="pt-B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Sistemas de Informação</a:t>
            </a:r>
            <a:endParaRPr lang="pt-BR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Disponível em: 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https://www.youtube.com/watch?v=8a6V7x0dYxQ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endParaRPr lang="pt-B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7596967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3AC7D-8CF9-A63F-57A2-D983DEB50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C4C3A19-ED0C-1CE0-1512-03DBBA8E6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Dinâmica</a:t>
            </a:r>
            <a:r>
              <a:rPr lang="en-US" b="1" dirty="0">
                <a:solidFill>
                  <a:srgbClr val="0070C0"/>
                </a:solidFill>
              </a:rPr>
              <a:t>/</a:t>
            </a:r>
            <a:r>
              <a:rPr lang="en-US" b="1" dirty="0" err="1">
                <a:solidFill>
                  <a:srgbClr val="0070C0"/>
                </a:solidFill>
              </a:rPr>
              <a:t>Atividade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45119E1-EF11-7248-2ADA-8776A0D7E7E3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1035050"/>
            <a:ext cx="8865056" cy="3994150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Escolher uma empresa real</a:t>
            </a:r>
          </a:p>
          <a:p>
            <a:pPr marL="457200" indent="-457200">
              <a:buFont typeface="+mj-lt"/>
              <a:buAutoNum type="arabicPeriod"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Identificar sistemas utilizados</a:t>
            </a:r>
          </a:p>
          <a:p>
            <a:pPr marL="457200" indent="-457200">
              <a:buFont typeface="+mj-lt"/>
              <a:buAutoNum type="arabicPeriod"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Relacionar com estratégia</a:t>
            </a:r>
          </a:p>
          <a:p>
            <a:pPr marL="457200" indent="-457200">
              <a:buFont typeface="+mj-lt"/>
              <a:buAutoNum type="arabicPeriod"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Apresentar análise crítica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Entrega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000">
                <a:latin typeface="Times New Roman" panose="02020603050405020304" pitchFamily="18" charset="0"/>
                <a:cs typeface="Times New Roman" panose="02020603050405020304" pitchFamily="18" charset="0"/>
              </a:rPr>
              <a:t>apresentação 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08 min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76682751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113CC-4C8A-176A-84B4-32239DD9A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682FFEF-E1C3-665E-AB9B-A3A60A2D7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Dinâmica</a:t>
            </a:r>
            <a:r>
              <a:rPr lang="en-US" b="1" dirty="0">
                <a:solidFill>
                  <a:srgbClr val="0070C0"/>
                </a:solidFill>
              </a:rPr>
              <a:t>/</a:t>
            </a:r>
            <a:r>
              <a:rPr lang="en-US" b="1" dirty="0" err="1">
                <a:solidFill>
                  <a:srgbClr val="0070C0"/>
                </a:solidFill>
              </a:rPr>
              <a:t>Estudo</a:t>
            </a:r>
            <a:r>
              <a:rPr lang="en-US" b="1" dirty="0">
                <a:solidFill>
                  <a:srgbClr val="0070C0"/>
                </a:solidFill>
              </a:rPr>
              <a:t> de Caso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A2EA8D1-5C26-6A7D-D2CC-911061724B06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1035050"/>
            <a:ext cx="8865056" cy="39941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Empresa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Magazine Luiza ou banco digital</a:t>
            </a:r>
          </a:p>
          <a:p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Como usa tecnologia?</a:t>
            </a:r>
          </a:p>
          <a:p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 impacto na estratégia?</a:t>
            </a:r>
          </a:p>
          <a:p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Resultados obtidos?</a:t>
            </a:r>
          </a:p>
          <a:p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Entrega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apresentação (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08 min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79228615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Referências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Bibliográficas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63230"/>
            <a:ext cx="8865056" cy="387428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LAUDON, K.; LAUDON, J.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Sistemas de Informação Gerenciais. 16. ed. São Paulo: Pearson, 2020.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PORTER, M.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Tecnologia da Informação para Gestão. 10. ed. Porto Alegre: Bookman, 2019.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O'BRIEN, J. </a:t>
            </a:r>
          </a:p>
          <a:p>
            <a:pPr marL="0" indent="0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Sistemas de Informação e decisões gerenciais.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5311843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285751" y="2386770"/>
            <a:ext cx="8615364" cy="1102519"/>
          </a:xfrm>
        </p:spPr>
        <p:txBody>
          <a:bodyPr>
            <a:noAutofit/>
          </a:bodyPr>
          <a:lstStyle/>
          <a:p>
            <a:r>
              <a:rPr lang="pt-BR" sz="4800" b="1" dirty="0">
                <a:solidFill>
                  <a:schemeClr val="bg1"/>
                </a:solidFill>
              </a:rPr>
              <a:t>GESTÃO DE INFORMAÇÃO</a:t>
            </a: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>
                <a:solidFill>
                  <a:schemeClr val="bg1"/>
                </a:solidFill>
              </a:rPr>
              <a:t>M.Sc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  <p:pic>
        <p:nvPicPr>
          <p:cNvPr id="2" name="Google Shape;62;p1" descr="Imagem">
            <a:extLst>
              <a:ext uri="{FF2B5EF4-FFF2-40B4-BE49-F238E27FC236}">
                <a16:creationId xmlns:a16="http://schemas.microsoft.com/office/drawing/2014/main" id="{9C895622-2963-024D-634E-EA58F5381D0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9898" y="343798"/>
            <a:ext cx="2858518" cy="13386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4143</TotalTime>
  <Words>428</Words>
  <Application>Microsoft Office PowerPoint</Application>
  <PresentationFormat>Apresentação na tela (16:9)</PresentationFormat>
  <Paragraphs>124</Paragraphs>
  <Slides>17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Times New Roman</vt:lpstr>
      <vt:lpstr>Office Theme</vt:lpstr>
      <vt:lpstr>GESTÃO DE INFORMAÇÃO</vt:lpstr>
      <vt:lpstr> Aula 02  AS PESSOAS, A ORGANIZAÇÃO E A TECNOLOGIA</vt:lpstr>
      <vt:lpstr>Objetivo da Aula</vt:lpstr>
      <vt:lpstr>Evolução dos SI</vt:lpstr>
      <vt:lpstr>Exemplo Prático Administração</vt:lpstr>
      <vt:lpstr>Componentes de SI</vt:lpstr>
      <vt:lpstr>Visão Sistêmica</vt:lpstr>
      <vt:lpstr>Estratégias Organizacionais</vt:lpstr>
      <vt:lpstr>Exemplo Estratégico</vt:lpstr>
      <vt:lpstr>Pessoa e Tecnologia</vt:lpstr>
      <vt:lpstr>Desafios Organizacionais</vt:lpstr>
      <vt:lpstr>Leitura Específica</vt:lpstr>
      <vt:lpstr>Aprenda+</vt:lpstr>
      <vt:lpstr>Dinâmica/Atividade</vt:lpstr>
      <vt:lpstr>Dinâmica/Estudo de Caso</vt:lpstr>
      <vt:lpstr>Referências Bibliográficas</vt:lpstr>
      <vt:lpstr>GESTÃO DE INFORMAÇÃO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Nome da Disciplina</dc:title>
  <dc:creator>JOAO CAIRO FERREIRA</dc:creator>
  <cp:lastModifiedBy>Heleno Cardoso</cp:lastModifiedBy>
  <cp:revision>1025</cp:revision>
  <dcterms:created xsi:type="dcterms:W3CDTF">2020-03-17T20:12:34Z</dcterms:created>
  <dcterms:modified xsi:type="dcterms:W3CDTF">2026-03-24T23:44:04Z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1033-11.1.0.9126</vt:lpwstr>
  </property>
</Properties>
</file>